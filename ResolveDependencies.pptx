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0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61"/>
  </p:normalViewPr>
  <p:slideViewPr>
    <p:cSldViewPr snapToGrid="0">
      <p:cViewPr varScale="1">
        <p:scale>
          <a:sx n="91" d="100"/>
          <a:sy n="91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B24AE-E0A7-0247-B18B-CF3110C7BDD4}" type="datetimeFigureOut">
              <a:rPr lang="de-DE" smtClean="0"/>
              <a:t>31.12.25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043A-0B80-5842-B322-33AD2D3631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328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1043A-0B80-5842-B322-33AD2D3631BB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71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C64CC-8ECD-CDEA-1476-4F0B80424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2BF9ED-0FD2-54CB-FE11-78059FDF0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3BC07-2D91-CEC4-3A2C-90881675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A554C-9E3C-DE6E-CF7A-411EE845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4B16E6-B415-2B76-A51B-47BE4261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38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0D751-4FB8-6157-D817-CF838FA3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30505-5E8C-7FA6-FCE2-50A1D0F62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0D9AFC-9E0C-D774-C8DD-43AAB85C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A6C1E3-44AE-5080-0802-02FC8577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DB8008-8F9C-37A2-C6A5-DC3F4C7F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06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5E6797-25B1-6EA8-9FA2-C09C1FF5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29EC61-5BB5-12E0-46D1-69C731E44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22BD4F-6CA7-EAF0-7BB2-E9C53E6D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FECBF-7677-DF51-F137-1C695AAD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10A271-2E31-EBFD-F9D6-57A49B41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43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844230-920D-17FF-3963-04797EF0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AB8877-DE77-3A93-16AD-14D25A762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4E4C2D-5466-8C9B-9029-95B3AFE56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5BF678-73A4-390B-6D48-D50C2892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150EC1-5631-A87D-085B-54CD7DD1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1CC575-F9E1-12DB-C858-0322D16E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85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A7C94-B0BC-4FEC-4FB3-E9086234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48A19B-BDC3-1578-723B-7EE42E8CE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EB9772-2D23-83D1-E00E-F218B6105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7CF9F9-542E-A833-F361-246C5AC40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64E233-5B4B-F024-B7A6-C0C9F704D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8972D5-E212-50B8-E544-B62BE029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53D52E8-27BF-63E6-AD94-7EBEC030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A3A6FD3-391D-1261-42CF-03731BA2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26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D13A8-7432-E97A-1DD8-490E8D68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C4D6A4-14C3-15D0-5C0F-3EC6832A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A855A4-1A86-BC45-7D40-19EFB253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F4B6B79-70DB-87AC-571F-5DDCF7AD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2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7971CE-B6D5-FD31-1BD9-C74D7BDE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17B79C-D245-AD97-A4F1-9F54C8D1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4CB2D9-EE6F-ADB0-8EBA-CF3D9E1E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21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4F894-4CA5-0A31-3D4C-EA375C41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5EE48-8197-C5E7-17EB-FC3E7A032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511032-7303-9CF0-5A6A-10B8C7133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7375E8-30AD-B83D-AF0F-B528B280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B8EE9-C092-6EDD-A40A-B6AF6D4C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01D9B0-B239-4752-E8A9-4BEAE99A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22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D1EB5-E5FA-D6C8-A2E2-0B763E84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579F5DC-195D-DE91-FC2D-0B731524F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FD5931-62B1-C110-AEDA-AF72E2532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6EFF83-863A-C9B4-B991-F0053437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11B64B-C700-DEDE-9EAB-8D544BDF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8EAFBF-AD2E-6506-6AD6-3E06BAD7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02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0059B-F694-5DFF-416C-7398C3E7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1D2E5B-5737-D1E3-AA23-E2A0A1AB2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DC9321-B111-B081-4310-F9E3E40F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5F97B8-4370-2D0A-69FE-F66B3C67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4C0143-C2DA-17B9-351B-1C9B847C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24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2965A5-6955-55A2-4AF3-20FE30574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76EAC35-1A1E-9488-4F88-A9AED220C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BBC427-904D-3567-9665-F85D1934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FED55F-7874-9ABA-B8CF-4B8D5829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1BA217-B702-1D49-07E6-0A3579BB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991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B41DD0-F360-5584-7D6E-38D71F462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5DA93-04C3-CA1D-802D-10B49738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64387D-62E9-ED81-1C6A-7EE658BA5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2C741-38A0-F741-B844-96484301D893}" type="datetimeFigureOut">
              <a:rPr lang="de-DE" smtClean="0"/>
              <a:t>26.12.25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99AED-C67F-F5E4-7588-F631407B6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82381F-5EC2-1F0E-9DE1-329C5802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55212-51F5-0245-A2E0-0379DF475B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62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E180D-F460-6AF3-CB1C-5982A64F8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Resolve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47691E-838A-C16B-028E-9F46780F5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Gernot Schulmeister</a:t>
            </a:r>
          </a:p>
        </p:txBody>
      </p:sp>
    </p:spTree>
    <p:extLst>
      <p:ext uri="{BB962C8B-B14F-4D97-AF65-F5344CB8AC3E}">
        <p14:creationId xmlns:p14="http://schemas.microsoft.com/office/powerpoint/2010/main" val="207794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632CE-E5E9-D1AC-342F-9E395AF0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Parameter-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Removal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0AA8EA-3391-2051-1302-19E18AC1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1715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/>
              <a:t>Parameter-</a:t>
            </a:r>
            <a:r>
              <a:rPr lang="de-DE" b="1" dirty="0" err="1"/>
              <a:t>Based</a:t>
            </a:r>
            <a:r>
              <a:rPr lang="de-DE" b="1" dirty="0"/>
              <a:t> </a:t>
            </a:r>
            <a:r>
              <a:rPr lang="de-DE" b="1" dirty="0" err="1"/>
              <a:t>Dependency</a:t>
            </a:r>
            <a:r>
              <a:rPr lang="de-DE" b="1" dirty="0"/>
              <a:t> </a:t>
            </a:r>
            <a:r>
              <a:rPr lang="de-DE" b="1" dirty="0" err="1"/>
              <a:t>Removal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Adapt</a:t>
            </a:r>
            <a:r>
              <a:rPr lang="de-DE" dirty="0"/>
              <a:t> Parameter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Parameterize</a:t>
            </a:r>
            <a:r>
              <a:rPr lang="de-DE" dirty="0"/>
              <a:t>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Parameterize</a:t>
            </a:r>
            <a:r>
              <a:rPr lang="de-DE" dirty="0"/>
              <a:t> </a:t>
            </a:r>
            <a:r>
              <a:rPr lang="de-DE" dirty="0" err="1"/>
              <a:t>Constructor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Primitivize</a:t>
            </a:r>
            <a:r>
              <a:rPr lang="de-DE" dirty="0"/>
              <a:t> Parameter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Pass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creating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internally</a:t>
            </a:r>
            <a:r>
              <a:rPr lang="de-DE" dirty="0"/>
              <a:t>.</a:t>
            </a:r>
          </a:p>
          <a:p>
            <a:r>
              <a:rPr lang="de-DE" i="1" dirty="0"/>
              <a:t>“Move </a:t>
            </a:r>
            <a:r>
              <a:rPr lang="de-DE" i="1" dirty="0" err="1"/>
              <a:t>dependencies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method</a:t>
            </a:r>
            <a:r>
              <a:rPr lang="de-DE" i="1" dirty="0"/>
              <a:t> </a:t>
            </a:r>
            <a:r>
              <a:rPr lang="de-DE" i="1" dirty="0" err="1"/>
              <a:t>or</a:t>
            </a:r>
            <a:r>
              <a:rPr lang="de-DE" i="1" dirty="0"/>
              <a:t> </a:t>
            </a:r>
            <a:r>
              <a:rPr lang="de-DE" i="1" dirty="0" err="1"/>
              <a:t>constructor</a:t>
            </a:r>
            <a:r>
              <a:rPr lang="de-DE" i="1" dirty="0"/>
              <a:t> </a:t>
            </a:r>
            <a:r>
              <a:rPr lang="de-DE" i="1" dirty="0" err="1"/>
              <a:t>boundary</a:t>
            </a:r>
            <a:r>
              <a:rPr lang="de-DE" i="1" dirty="0"/>
              <a:t>.”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Clear </a:t>
            </a:r>
            <a:r>
              <a:rPr lang="de-DE" dirty="0" err="1"/>
              <a:t>dependencies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Easy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Explicit </a:t>
            </a:r>
            <a:r>
              <a:rPr lang="de-DE" dirty="0" err="1"/>
              <a:t>contracts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9775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58B37-7FEE-5742-416F-F9058BF7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Override-Based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E33B15-A165-649A-651D-25623E0AC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 err="1"/>
              <a:t>Inheritance</a:t>
            </a:r>
            <a:r>
              <a:rPr lang="de-DE" b="1" dirty="0"/>
              <a:t> &amp; </a:t>
            </a:r>
            <a:r>
              <a:rPr lang="de-DE" b="1" dirty="0" err="1"/>
              <a:t>Polymorphism</a:t>
            </a:r>
            <a:r>
              <a:rPr lang="de-DE" b="1" dirty="0"/>
              <a:t> </a:t>
            </a:r>
            <a:r>
              <a:rPr lang="de-DE" b="1" dirty="0" err="1"/>
              <a:t>Seams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Subclass</a:t>
            </a:r>
            <a:r>
              <a:rPr lang="de-DE" dirty="0"/>
              <a:t> and </a:t>
            </a:r>
            <a:r>
              <a:rPr lang="de-DE" dirty="0" err="1"/>
              <a:t>Override</a:t>
            </a:r>
            <a:r>
              <a:rPr lang="de-DE" dirty="0"/>
              <a:t>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Getter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Factory Method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overridable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and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in </a:t>
            </a:r>
            <a:r>
              <a:rPr lang="de-DE" dirty="0" err="1"/>
              <a:t>subclasses</a:t>
            </a:r>
            <a:r>
              <a:rPr lang="de-DE" dirty="0"/>
              <a:t>.</a:t>
            </a:r>
          </a:p>
          <a:p>
            <a:r>
              <a:rPr lang="de-DE" i="1" dirty="0"/>
              <a:t>“</a:t>
            </a:r>
            <a:r>
              <a:rPr lang="de-DE" i="1" dirty="0" err="1"/>
              <a:t>Override</a:t>
            </a:r>
            <a:r>
              <a:rPr lang="de-DE" i="1" dirty="0"/>
              <a:t> </a:t>
            </a:r>
            <a:r>
              <a:rPr lang="de-DE" i="1" dirty="0" err="1"/>
              <a:t>behavior</a:t>
            </a:r>
            <a:r>
              <a:rPr lang="de-DE" i="1" dirty="0"/>
              <a:t> </a:t>
            </a:r>
            <a:r>
              <a:rPr lang="de-DE" i="1" dirty="0" err="1"/>
              <a:t>without</a:t>
            </a:r>
            <a:r>
              <a:rPr lang="de-DE" i="1" dirty="0"/>
              <a:t> </a:t>
            </a:r>
            <a:r>
              <a:rPr lang="de-DE" i="1" dirty="0" err="1"/>
              <a:t>changing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calling</a:t>
            </a:r>
            <a:r>
              <a:rPr lang="de-DE" i="1" dirty="0"/>
              <a:t> code.”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Minimal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Test-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subclasses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96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B35BC0-4B43-8DF3-600F-E7A40C46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Template &amp;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Redefinition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95C365-0D5B-6653-FC21-42E53DB15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 err="1"/>
              <a:t>Algorithm</a:t>
            </a:r>
            <a:r>
              <a:rPr lang="de-DE" b="1" dirty="0"/>
              <a:t> </a:t>
            </a:r>
            <a:r>
              <a:rPr lang="de-DE" b="1" dirty="0" err="1"/>
              <a:t>Structure</a:t>
            </a:r>
            <a:r>
              <a:rPr lang="de-DE" b="1" dirty="0"/>
              <a:t> </a:t>
            </a:r>
            <a:r>
              <a:rPr lang="de-DE" b="1" dirty="0" err="1"/>
              <a:t>Seams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Template </a:t>
            </a:r>
            <a:r>
              <a:rPr lang="de-DE" dirty="0" err="1"/>
              <a:t>Redefinition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Break Out Method </a:t>
            </a:r>
            <a:r>
              <a:rPr lang="de-DE" dirty="0" err="1"/>
              <a:t>Object</a:t>
            </a:r>
            <a:endParaRPr lang="de-DE" dirty="0"/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Separate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variable </a:t>
            </a:r>
            <a:r>
              <a:rPr lang="de-DE" dirty="0" err="1"/>
              <a:t>steps</a:t>
            </a:r>
            <a:r>
              <a:rPr lang="de-DE" dirty="0"/>
              <a:t>.</a:t>
            </a:r>
          </a:p>
          <a:p>
            <a:r>
              <a:rPr lang="de-DE" i="1" dirty="0"/>
              <a:t>“Keep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process</a:t>
            </a:r>
            <a:r>
              <a:rPr lang="de-DE" i="1" dirty="0"/>
              <a:t> </a:t>
            </a:r>
            <a:r>
              <a:rPr lang="de-DE" i="1" dirty="0" err="1"/>
              <a:t>stable</a:t>
            </a:r>
            <a:r>
              <a:rPr lang="de-DE" i="1" dirty="0"/>
              <a:t>, </a:t>
            </a:r>
            <a:r>
              <a:rPr lang="de-DE" i="1" dirty="0" err="1"/>
              <a:t>redefine</a:t>
            </a:r>
            <a:r>
              <a:rPr lang="de-DE" i="1" dirty="0"/>
              <a:t> </a:t>
            </a:r>
            <a:r>
              <a:rPr lang="de-DE" i="1" dirty="0" err="1"/>
              <a:t>selected</a:t>
            </a:r>
            <a:r>
              <a:rPr lang="de-DE" i="1" dirty="0"/>
              <a:t> </a:t>
            </a:r>
            <a:r>
              <a:rPr lang="de-DE" i="1" dirty="0" err="1"/>
              <a:t>steps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Stable</a:t>
            </a:r>
            <a:r>
              <a:rPr lang="de-DE" dirty="0"/>
              <a:t> </a:t>
            </a:r>
            <a:r>
              <a:rPr lang="de-DE" dirty="0" err="1"/>
              <a:t>workflows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extensibility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51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65F30-E90C-2478-B2BB-63B9B407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Factory &amp;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0B05F7-5AFA-9235-A163-E00EE1407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 err="1"/>
              <a:t>Object</a:t>
            </a:r>
            <a:r>
              <a:rPr lang="de-DE" b="1" dirty="0"/>
              <a:t> </a:t>
            </a:r>
            <a:r>
              <a:rPr lang="de-DE" b="1" dirty="0" err="1"/>
              <a:t>Creation</a:t>
            </a:r>
            <a:r>
              <a:rPr lang="de-DE" b="1" dirty="0"/>
              <a:t> Control</a:t>
            </a:r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Expose</a:t>
            </a:r>
            <a:r>
              <a:rPr lang="de-DE" dirty="0"/>
              <a:t> Static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Factory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Introduce</a:t>
            </a:r>
            <a:r>
              <a:rPr lang="de-DE" dirty="0"/>
              <a:t> Static Setter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Take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instantiation</a:t>
            </a:r>
            <a:r>
              <a:rPr lang="de-DE" dirty="0"/>
              <a:t>.</a:t>
            </a:r>
          </a:p>
          <a:p>
            <a:r>
              <a:rPr lang="de-DE" i="1" dirty="0"/>
              <a:t>“</a:t>
            </a:r>
            <a:r>
              <a:rPr lang="de-DE" i="1" dirty="0" err="1"/>
              <a:t>Replace</a:t>
            </a:r>
            <a:r>
              <a:rPr lang="de-DE" i="1" dirty="0"/>
              <a:t> ‘</a:t>
            </a:r>
            <a:r>
              <a:rPr lang="de-DE" i="1" dirty="0" err="1"/>
              <a:t>new</a:t>
            </a:r>
            <a:r>
              <a:rPr lang="de-DE" i="1" dirty="0"/>
              <a:t>’ </a:t>
            </a:r>
            <a:r>
              <a:rPr lang="de-DE" i="1" dirty="0" err="1"/>
              <a:t>with</a:t>
            </a:r>
            <a:r>
              <a:rPr lang="de-DE" i="1" dirty="0"/>
              <a:t> an </a:t>
            </a:r>
            <a:r>
              <a:rPr lang="de-DE" i="1" dirty="0" err="1"/>
              <a:t>overridable</a:t>
            </a:r>
            <a:r>
              <a:rPr lang="de-DE" i="1" dirty="0"/>
              <a:t> </a:t>
            </a:r>
            <a:r>
              <a:rPr lang="de-DE" i="1" dirty="0" err="1"/>
              <a:t>creation</a:t>
            </a:r>
            <a:r>
              <a:rPr lang="de-DE" i="1" dirty="0"/>
              <a:t> </a:t>
            </a:r>
            <a:r>
              <a:rPr lang="de-DE" i="1" dirty="0" err="1"/>
              <a:t>point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hard-wired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Enable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doubles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831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29E10-2E47-40EB-F456-6CB1B3E5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5. Field &amp; Reference </a:t>
            </a:r>
            <a:r>
              <a:rPr lang="de-DE" dirty="0" err="1"/>
              <a:t>Replacement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BC2ED-BD42-CFC3-81D8-A9C2CDC93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/>
              <a:t>Variable and Reference </a:t>
            </a:r>
            <a:r>
              <a:rPr lang="de-DE" b="1" dirty="0" err="1"/>
              <a:t>Seams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Supersede</a:t>
            </a:r>
            <a:r>
              <a:rPr lang="de-DE" dirty="0"/>
              <a:t> Instance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Introduce</a:t>
            </a:r>
            <a:r>
              <a:rPr lang="de-DE" dirty="0"/>
              <a:t> Instance </a:t>
            </a:r>
            <a:r>
              <a:rPr lang="de-DE" dirty="0" err="1"/>
              <a:t>Delegator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Global Reference </a:t>
            </a:r>
            <a:r>
              <a:rPr lang="de-DE" dirty="0" err="1"/>
              <a:t>with</a:t>
            </a:r>
            <a:r>
              <a:rPr lang="de-DE" dirty="0"/>
              <a:t> Getter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Encapsulate</a:t>
            </a:r>
            <a:r>
              <a:rPr lang="de-DE" dirty="0"/>
              <a:t> Global References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a variable </a:t>
            </a:r>
            <a:r>
              <a:rPr lang="de-DE" dirty="0" err="1"/>
              <a:t>refers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, not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.</a:t>
            </a:r>
          </a:p>
          <a:p>
            <a:r>
              <a:rPr lang="de-DE" i="1" dirty="0"/>
              <a:t>“Redirect </a:t>
            </a:r>
            <a:r>
              <a:rPr lang="de-DE" i="1" dirty="0" err="1"/>
              <a:t>references</a:t>
            </a:r>
            <a:r>
              <a:rPr lang="de-DE" i="1" dirty="0"/>
              <a:t> </a:t>
            </a:r>
            <a:r>
              <a:rPr lang="de-DE" i="1" dirty="0" err="1"/>
              <a:t>instead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rewriting</a:t>
            </a:r>
            <a:r>
              <a:rPr lang="de-DE" i="1" dirty="0"/>
              <a:t> </a:t>
            </a:r>
            <a:r>
              <a:rPr lang="de-DE" i="1" dirty="0" err="1"/>
              <a:t>logic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Minimal code </a:t>
            </a:r>
            <a:r>
              <a:rPr lang="de-DE" dirty="0" err="1"/>
              <a:t>motion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indirection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79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F81B4-5686-57B2-0E3D-4EF4F9C3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 Static &amp; Global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615778-D5A6-C02A-2E64-33015C54B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/>
              <a:t>Static </a:t>
            </a:r>
            <a:r>
              <a:rPr lang="de-DE" b="1" dirty="0" err="1"/>
              <a:t>Dependency</a:t>
            </a:r>
            <a:r>
              <a:rPr lang="de-DE" b="1" dirty="0"/>
              <a:t> Isolation</a:t>
            </a:r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Expose</a:t>
            </a:r>
            <a:r>
              <a:rPr lang="de-DE" dirty="0"/>
              <a:t> Static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Introduce</a:t>
            </a:r>
            <a:r>
              <a:rPr lang="de-DE" dirty="0"/>
              <a:t> Static Setter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Global Reference </a:t>
            </a:r>
            <a:r>
              <a:rPr lang="de-DE" dirty="0" err="1"/>
              <a:t>with</a:t>
            </a:r>
            <a:r>
              <a:rPr lang="de-DE" dirty="0"/>
              <a:t> Getter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substitutable</a:t>
            </a:r>
            <a:r>
              <a:rPr lang="de-DE" dirty="0"/>
              <a:t>.</a:t>
            </a:r>
          </a:p>
          <a:p>
            <a:r>
              <a:rPr lang="de-DE" i="1" dirty="0"/>
              <a:t>“Turn </a:t>
            </a:r>
            <a:r>
              <a:rPr lang="de-DE" i="1" dirty="0" err="1"/>
              <a:t>static</a:t>
            </a:r>
            <a:r>
              <a:rPr lang="de-DE" i="1" dirty="0"/>
              <a:t> </a:t>
            </a:r>
            <a:r>
              <a:rPr lang="de-DE" i="1" dirty="0" err="1"/>
              <a:t>access</a:t>
            </a:r>
            <a:r>
              <a:rPr lang="de-DE" i="1" dirty="0"/>
              <a:t> </a:t>
            </a:r>
            <a:r>
              <a:rPr lang="de-DE" i="1" dirty="0" err="1"/>
              <a:t>into</a:t>
            </a:r>
            <a:r>
              <a:rPr lang="de-DE" i="1" dirty="0"/>
              <a:t> an </a:t>
            </a:r>
            <a:r>
              <a:rPr lang="de-DE" i="1" dirty="0" err="1"/>
              <a:t>overridable</a:t>
            </a:r>
            <a:r>
              <a:rPr lang="de-DE" i="1" dirty="0"/>
              <a:t> </a:t>
            </a:r>
            <a:r>
              <a:rPr lang="de-DE" i="1" dirty="0" err="1"/>
              <a:t>seam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legacy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Reduced</a:t>
            </a:r>
            <a:r>
              <a:rPr lang="de-DE" dirty="0"/>
              <a:t> global </a:t>
            </a:r>
            <a:r>
              <a:rPr lang="de-DE" dirty="0" err="1"/>
              <a:t>coupling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645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2A1509-09AB-E636-F4D8-789268D3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7.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Extraction</a:t>
            </a:r>
            <a:r>
              <a:rPr lang="de-DE" dirty="0"/>
              <a:t>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C3D9A-C697-0876-EEA8-D9339FE6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63068" cy="48705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b="1" dirty="0"/>
              <a:t>Type &amp; </a:t>
            </a:r>
            <a:r>
              <a:rPr lang="de-DE" b="1" dirty="0" err="1"/>
              <a:t>Responsibility</a:t>
            </a:r>
            <a:r>
              <a:rPr lang="de-DE" b="1" dirty="0"/>
              <a:t> Separation</a:t>
            </a:r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Extract </a:t>
            </a:r>
            <a:r>
              <a:rPr lang="de-DE" dirty="0" err="1"/>
              <a:t>Implementer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Pull Up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Push Down </a:t>
            </a:r>
            <a:r>
              <a:rPr lang="de-DE" dirty="0" err="1"/>
              <a:t>Dependency</a:t>
            </a:r>
            <a:endParaRPr lang="de-DE" dirty="0"/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Reorganize</a:t>
            </a:r>
            <a:r>
              <a:rPr lang="de-DE" dirty="0"/>
              <a:t> </a:t>
            </a:r>
            <a:r>
              <a:rPr lang="de-DE" dirty="0" err="1"/>
              <a:t>responsibilities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.</a:t>
            </a:r>
          </a:p>
          <a:p>
            <a:r>
              <a:rPr lang="de-DE" i="1" dirty="0"/>
              <a:t>“Move </a:t>
            </a:r>
            <a:r>
              <a:rPr lang="de-DE" i="1" dirty="0" err="1"/>
              <a:t>behavior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type </a:t>
            </a:r>
            <a:r>
              <a:rPr lang="de-DE" i="1" dirty="0" err="1"/>
              <a:t>where</a:t>
            </a:r>
            <a:r>
              <a:rPr lang="de-DE" i="1" dirty="0"/>
              <a:t> </a:t>
            </a:r>
            <a:r>
              <a:rPr lang="de-DE" i="1" dirty="0" err="1"/>
              <a:t>it</a:t>
            </a:r>
            <a:r>
              <a:rPr lang="de-DE" i="1" dirty="0"/>
              <a:t> </a:t>
            </a:r>
            <a:r>
              <a:rPr lang="de-DE" i="1" dirty="0" err="1"/>
              <a:t>belongs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Cleaner </a:t>
            </a:r>
            <a:r>
              <a:rPr lang="de-DE" dirty="0" err="1"/>
              <a:t>abstractions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Reduced</a:t>
            </a:r>
            <a:r>
              <a:rPr lang="de-DE" dirty="0"/>
              <a:t> </a:t>
            </a:r>
            <a:r>
              <a:rPr lang="de-DE" dirty="0" err="1"/>
              <a:t>coupling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boundaries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9406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34646-02D1-2228-69F3-8B3B26F6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8. Call &amp; </a:t>
            </a:r>
            <a:r>
              <a:rPr lang="de-DE" dirty="0" err="1"/>
              <a:t>Function</a:t>
            </a:r>
            <a:r>
              <a:rPr lang="de-DE" dirty="0"/>
              <a:t> Substitution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4A360B-097B-9867-C405-85AD05C94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 err="1"/>
              <a:t>Behavior</a:t>
            </a:r>
            <a:r>
              <a:rPr lang="de-DE" b="1" dirty="0"/>
              <a:t> </a:t>
            </a:r>
            <a:r>
              <a:rPr lang="de-DE" b="1" dirty="0" err="1"/>
              <a:t>Replacement</a:t>
            </a:r>
            <a:r>
              <a:rPr lang="de-DE" b="1" dirty="0"/>
              <a:t> </a:t>
            </a:r>
            <a:r>
              <a:rPr lang="de-DE" b="1" dirty="0" err="1"/>
              <a:t>Seams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Pointer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Link Substitution</a:t>
            </a:r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Replace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caller</a:t>
            </a:r>
            <a:r>
              <a:rPr lang="de-DE" dirty="0"/>
              <a:t>.</a:t>
            </a:r>
            <a:br>
              <a:rPr lang="de-DE" dirty="0"/>
            </a:br>
            <a:r>
              <a:rPr lang="de-DE" i="1" dirty="0"/>
              <a:t>“Swap </a:t>
            </a:r>
            <a:r>
              <a:rPr lang="de-DE" i="1" dirty="0" err="1"/>
              <a:t>behavior</a:t>
            </a:r>
            <a:r>
              <a:rPr lang="de-DE" i="1" dirty="0"/>
              <a:t> at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call</a:t>
            </a:r>
            <a:r>
              <a:rPr lang="de-DE" i="1" dirty="0"/>
              <a:t> </a:t>
            </a:r>
            <a:r>
              <a:rPr lang="de-DE" i="1" dirty="0" err="1"/>
              <a:t>site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Localized</a:t>
            </a:r>
            <a:r>
              <a:rPr lang="de-DE" dirty="0"/>
              <a:t> </a:t>
            </a:r>
            <a:r>
              <a:rPr lang="de-DE" dirty="0" err="1"/>
              <a:t>change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Fine-</a:t>
            </a:r>
            <a:r>
              <a:rPr lang="de-DE" dirty="0" err="1"/>
              <a:t>grained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120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E5C22-6AE9-7350-66B6-6416686E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9. </a:t>
            </a:r>
            <a:r>
              <a:rPr lang="de-DE" dirty="0" err="1"/>
              <a:t>Textual</a:t>
            </a:r>
            <a:r>
              <a:rPr lang="de-DE" dirty="0"/>
              <a:t> &amp; Extreme </a:t>
            </a:r>
            <a:r>
              <a:rPr lang="de-DE" dirty="0" err="1"/>
              <a:t>Seams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A3C2F5-8937-58A3-9356-4D9D30BF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/>
              <a:t>Non-</a:t>
            </a:r>
            <a:r>
              <a:rPr lang="de-DE" b="1" dirty="0" err="1"/>
              <a:t>Structural</a:t>
            </a:r>
            <a:r>
              <a:rPr lang="de-DE" b="1" dirty="0"/>
              <a:t> </a:t>
            </a:r>
            <a:r>
              <a:rPr lang="de-DE" b="1" dirty="0" err="1"/>
              <a:t>Seams</a:t>
            </a:r>
            <a:endParaRPr lang="de-DE" b="1" dirty="0"/>
          </a:p>
          <a:p>
            <a:r>
              <a:rPr lang="de-DE" b="1" dirty="0" err="1"/>
              <a:t>Techniques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Redefinition</a:t>
            </a:r>
            <a:endParaRPr lang="de-DE" dirty="0"/>
          </a:p>
          <a:p>
            <a:r>
              <a:rPr lang="de-DE" b="1" dirty="0"/>
              <a:t>Common </a:t>
            </a:r>
            <a:r>
              <a:rPr lang="de-DE" b="1" dirty="0" err="1"/>
              <a:t>idea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Change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resolution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structure</a:t>
            </a:r>
            <a:r>
              <a:rPr lang="de-DE" dirty="0"/>
              <a:t>.</a:t>
            </a:r>
          </a:p>
          <a:p>
            <a:r>
              <a:rPr lang="de-DE" i="1" dirty="0"/>
              <a:t>“Change </a:t>
            </a:r>
            <a:r>
              <a:rPr lang="de-DE" i="1" dirty="0" err="1"/>
              <a:t>what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code </a:t>
            </a:r>
            <a:r>
              <a:rPr lang="de-DE" i="1" dirty="0" err="1"/>
              <a:t>resolves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.”</a:t>
            </a:r>
            <a:endParaRPr lang="de-DE" dirty="0"/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outcome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Zero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High </a:t>
            </a:r>
            <a:r>
              <a:rPr lang="de-DE" dirty="0" err="1"/>
              <a:t>fragility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IDE </a:t>
            </a:r>
            <a:r>
              <a:rPr lang="de-DE" dirty="0" err="1"/>
              <a:t>confusion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6265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F2B3F-9851-53A9-69F9-334473AD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Are Still </a:t>
            </a:r>
            <a:r>
              <a:rPr lang="de-DE" dirty="0" err="1"/>
              <a:t>Highly</a:t>
            </a:r>
            <a:r>
              <a:rPr lang="de-DE" dirty="0"/>
              <a:t> Relevant Today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4EE874-6990-6907-2B97-304E8A82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b="1" dirty="0" err="1"/>
              <a:t>Seams</a:t>
            </a:r>
            <a:endParaRPr lang="de-DE" b="1" dirty="0"/>
          </a:p>
          <a:p>
            <a:pPr>
              <a:lnSpc>
                <a:spcPct val="120000"/>
              </a:lnSpc>
            </a:pPr>
            <a:r>
              <a:rPr lang="de-DE" dirty="0" err="1"/>
              <a:t>Parameterize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, </a:t>
            </a:r>
            <a:r>
              <a:rPr lang="de-DE" dirty="0" err="1"/>
              <a:t>Parameterize</a:t>
            </a:r>
            <a:r>
              <a:rPr lang="de-DE" dirty="0"/>
              <a:t> Method, Extract Interface, Extract </a:t>
            </a:r>
            <a:r>
              <a:rPr lang="de-DE" dirty="0" err="1"/>
              <a:t>Implementer</a:t>
            </a:r>
            <a:r>
              <a:rPr lang="de-DE" dirty="0"/>
              <a:t>, </a:t>
            </a:r>
            <a:r>
              <a:rPr lang="de-DE" dirty="0" err="1"/>
              <a:t>Adapt</a:t>
            </a:r>
            <a:r>
              <a:rPr lang="de-DE" dirty="0"/>
              <a:t> Parameter,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Pointer, Break Out Method </a:t>
            </a:r>
            <a:r>
              <a:rPr lang="de-DE" dirty="0" err="1"/>
              <a:t>Object</a:t>
            </a:r>
            <a:endParaRPr lang="de-DE" dirty="0"/>
          </a:p>
          <a:p>
            <a:pPr marL="0" indent="0">
              <a:lnSpc>
                <a:spcPct val="120000"/>
              </a:lnSpc>
              <a:buNone/>
            </a:pPr>
            <a:r>
              <a:rPr lang="de-DE" b="1" dirty="0" err="1"/>
              <a:t>Why</a:t>
            </a:r>
            <a:r>
              <a:rPr lang="de-DE" b="1" dirty="0"/>
              <a:t> </a:t>
            </a:r>
            <a:r>
              <a:rPr lang="de-DE" b="1" dirty="0" err="1"/>
              <a:t>they</a:t>
            </a:r>
            <a:r>
              <a:rPr lang="de-DE" b="1" dirty="0"/>
              <a:t> still matter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Explicit </a:t>
            </a:r>
            <a:r>
              <a:rPr lang="de-DE" dirty="0" err="1"/>
              <a:t>dependencies</a:t>
            </a:r>
            <a:r>
              <a:rPr lang="de-DE" dirty="0"/>
              <a:t>, Framework-</a:t>
            </a:r>
            <a:r>
              <a:rPr lang="de-DE" dirty="0" err="1"/>
              <a:t>agnostic</a:t>
            </a:r>
            <a:r>
              <a:rPr lang="de-DE" dirty="0"/>
              <a:t>,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SOLID </a:t>
            </a:r>
            <a:r>
              <a:rPr lang="de-DE" dirty="0" err="1"/>
              <a:t>principles</a:t>
            </a:r>
            <a:r>
              <a:rPr lang="de-DE" dirty="0"/>
              <a:t>, Work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mocking</a:t>
            </a:r>
            <a:r>
              <a:rPr lang="de-DE" dirty="0"/>
              <a:t> </a:t>
            </a:r>
            <a:r>
              <a:rPr lang="de-DE" dirty="0" err="1"/>
              <a:t>frameworks</a:t>
            </a:r>
            <a:r>
              <a:rPr lang="de-DE" dirty="0"/>
              <a:t>,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modern </a:t>
            </a:r>
            <a:r>
              <a:rPr lang="de-DE" dirty="0" err="1"/>
              <a:t>architectures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i="1" dirty="0"/>
              <a:t>“</a:t>
            </a:r>
            <a:r>
              <a:rPr lang="de-DE" i="1" dirty="0" err="1"/>
              <a:t>Make</a:t>
            </a:r>
            <a:r>
              <a:rPr lang="de-DE" i="1" dirty="0"/>
              <a:t> </a:t>
            </a:r>
            <a:r>
              <a:rPr lang="de-DE" i="1" dirty="0" err="1"/>
              <a:t>dependencies</a:t>
            </a:r>
            <a:r>
              <a:rPr lang="de-DE" i="1" dirty="0"/>
              <a:t> explicit and push </a:t>
            </a:r>
            <a:r>
              <a:rPr lang="de-DE" i="1" dirty="0" err="1"/>
              <a:t>them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boundaries</a:t>
            </a:r>
            <a:r>
              <a:rPr lang="de-DE" i="1" dirty="0"/>
              <a:t>.”</a:t>
            </a:r>
            <a:endParaRPr lang="de-DE" dirty="0"/>
          </a:p>
          <a:p>
            <a:pPr marL="0" indent="0">
              <a:lnSpc>
                <a:spcPct val="120000"/>
              </a:lnSpc>
              <a:buNone/>
            </a:pPr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usage</a:t>
            </a:r>
            <a:r>
              <a:rPr lang="de-DE" b="1" dirty="0"/>
              <a:t> </a:t>
            </a:r>
            <a:r>
              <a:rPr lang="de-DE" b="1" dirty="0" err="1"/>
              <a:t>today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Clean Architecture, Hexagonal / Ports &amp; Adapters, Test-first </a:t>
            </a:r>
            <a:r>
              <a:rPr lang="de-DE" dirty="0" err="1"/>
              <a:t>development</a:t>
            </a:r>
            <a:r>
              <a:rPr lang="de-DE" dirty="0"/>
              <a:t>, DI </a:t>
            </a:r>
            <a:r>
              <a:rPr lang="de-DE" dirty="0" err="1"/>
              <a:t>frameworks</a:t>
            </a:r>
            <a:r>
              <a:rPr lang="de-DE" dirty="0"/>
              <a:t> (Spring, CDI, </a:t>
            </a:r>
            <a:r>
              <a:rPr lang="de-DE" dirty="0" err="1"/>
              <a:t>Guice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013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66DF0-DCAA-1AA7-F623-E201266B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Obsoleted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Modern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E33F9-C4E2-2984-F4B2-83143AA82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14"/>
            <a:ext cx="10781714" cy="461544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2000" b="1" dirty="0" err="1"/>
              <a:t>Seams</a:t>
            </a:r>
            <a:endParaRPr lang="de-DE" sz="20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2000" dirty="0" err="1"/>
              <a:t>Textual</a:t>
            </a:r>
            <a:r>
              <a:rPr lang="de-DE" sz="2000" dirty="0"/>
              <a:t> </a:t>
            </a:r>
            <a:r>
              <a:rPr lang="de-DE" sz="2000" dirty="0" err="1"/>
              <a:t>Redefinition</a:t>
            </a:r>
            <a:r>
              <a:rPr lang="de-DE" sz="2000" dirty="0"/>
              <a:t>, </a:t>
            </a:r>
            <a:r>
              <a:rPr lang="de-DE" sz="2000" dirty="0" err="1"/>
              <a:t>Supersede</a:t>
            </a:r>
            <a:r>
              <a:rPr lang="de-DE" sz="2000" dirty="0"/>
              <a:t> Instance Variable, Link Substitution, </a:t>
            </a:r>
            <a:r>
              <a:rPr lang="de-DE" sz="2000" dirty="0" err="1"/>
              <a:t>Expose</a:t>
            </a:r>
            <a:r>
              <a:rPr lang="de-DE" sz="2000" dirty="0"/>
              <a:t> Static Method, </a:t>
            </a:r>
            <a:r>
              <a:rPr lang="de-DE" sz="2000" dirty="0" err="1"/>
              <a:t>Introduce</a:t>
            </a:r>
            <a:r>
              <a:rPr lang="de-DE" sz="2000" dirty="0"/>
              <a:t> Static Setter, </a:t>
            </a:r>
            <a:r>
              <a:rPr lang="de-DE" sz="2000" dirty="0" err="1"/>
              <a:t>Replace</a:t>
            </a:r>
            <a:r>
              <a:rPr lang="de-DE" sz="2000" dirty="0"/>
              <a:t> Global Reference </a:t>
            </a:r>
            <a:r>
              <a:rPr lang="de-DE" sz="2000" dirty="0" err="1"/>
              <a:t>with</a:t>
            </a:r>
            <a:r>
              <a:rPr lang="de-DE" sz="2000" dirty="0"/>
              <a:t> Getter, </a:t>
            </a:r>
            <a:r>
              <a:rPr lang="de-DE" sz="2000" dirty="0" err="1"/>
              <a:t>Encapsulate</a:t>
            </a:r>
            <a:r>
              <a:rPr lang="de-DE" sz="2000" dirty="0"/>
              <a:t> Global References, </a:t>
            </a:r>
            <a:r>
              <a:rPr lang="de-DE" sz="2000" dirty="0" err="1"/>
              <a:t>Subclass</a:t>
            </a:r>
            <a:r>
              <a:rPr lang="de-DE" sz="2000" dirty="0"/>
              <a:t> and </a:t>
            </a:r>
            <a:r>
              <a:rPr lang="de-DE" sz="2000" dirty="0" err="1"/>
              <a:t>Override</a:t>
            </a:r>
            <a:r>
              <a:rPr lang="de-DE" sz="2000" dirty="0"/>
              <a:t> Method, Extract and </a:t>
            </a:r>
            <a:r>
              <a:rPr lang="de-DE" sz="2000" dirty="0" err="1"/>
              <a:t>Override</a:t>
            </a:r>
            <a:r>
              <a:rPr lang="de-DE" sz="2000" dirty="0"/>
              <a:t> Call / Getter / Factory Method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2000" b="1" dirty="0" err="1"/>
              <a:t>Why</a:t>
            </a:r>
            <a:r>
              <a:rPr lang="de-DE" sz="2000" b="1" dirty="0"/>
              <a:t> </a:t>
            </a:r>
            <a:r>
              <a:rPr lang="de-DE" sz="2000" b="1" dirty="0" err="1"/>
              <a:t>they</a:t>
            </a:r>
            <a:r>
              <a:rPr lang="de-DE" sz="2000" b="1" dirty="0"/>
              <a:t> </a:t>
            </a:r>
            <a:r>
              <a:rPr lang="de-DE" sz="2000" b="1" dirty="0" err="1"/>
              <a:t>are</a:t>
            </a:r>
            <a:r>
              <a:rPr lang="de-DE" sz="2000" b="1" dirty="0"/>
              <a:t> </a:t>
            </a:r>
            <a:r>
              <a:rPr lang="de-DE" sz="2000" b="1" dirty="0" err="1"/>
              <a:t>discouraged</a:t>
            </a:r>
            <a:r>
              <a:rPr lang="de-DE" sz="2000" b="1" dirty="0"/>
              <a:t> </a:t>
            </a:r>
            <a:r>
              <a:rPr lang="de-DE" sz="2000" b="1" dirty="0" err="1"/>
              <a:t>today</a:t>
            </a:r>
            <a:endParaRPr lang="de-DE" sz="20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2000" dirty="0" err="1"/>
              <a:t>Implicit</a:t>
            </a:r>
            <a:r>
              <a:rPr lang="de-DE" sz="2000" dirty="0"/>
              <a:t> </a:t>
            </a:r>
            <a:r>
              <a:rPr lang="de-DE" sz="2000" dirty="0" err="1"/>
              <a:t>dependencies</a:t>
            </a:r>
            <a:r>
              <a:rPr lang="de-DE" sz="2000" dirty="0"/>
              <a:t>, Fragile </a:t>
            </a:r>
            <a:r>
              <a:rPr lang="de-DE" sz="2000" dirty="0" err="1"/>
              <a:t>refactorings</a:t>
            </a:r>
            <a:r>
              <a:rPr lang="de-DE" sz="2000" dirty="0"/>
              <a:t>, IDE-</a:t>
            </a:r>
            <a:r>
              <a:rPr lang="de-DE" sz="2000" dirty="0" err="1"/>
              <a:t>unfriendly</a:t>
            </a:r>
            <a:r>
              <a:rPr lang="de-DE" sz="2000" dirty="0"/>
              <a:t>, </a:t>
            </a:r>
            <a:r>
              <a:rPr lang="de-DE" sz="2000" dirty="0" err="1"/>
              <a:t>Tight</a:t>
            </a:r>
            <a:r>
              <a:rPr lang="de-DE" sz="2000" dirty="0"/>
              <a:t> </a:t>
            </a:r>
            <a:r>
              <a:rPr lang="de-DE" sz="2000" dirty="0" err="1"/>
              <a:t>coupling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inheritance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globals</a:t>
            </a:r>
            <a:r>
              <a:rPr lang="de-DE" sz="2000" dirty="0"/>
              <a:t>, Harder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reason</a:t>
            </a:r>
            <a:r>
              <a:rPr lang="de-DE" sz="2000" dirty="0"/>
              <a:t> </a:t>
            </a:r>
            <a:r>
              <a:rPr lang="de-DE" sz="2000" dirty="0" err="1"/>
              <a:t>about</a:t>
            </a:r>
            <a:endParaRPr lang="de-DE" sz="2000" dirty="0"/>
          </a:p>
          <a:p>
            <a:pPr>
              <a:lnSpc>
                <a:spcPct val="120000"/>
              </a:lnSpc>
            </a:pPr>
            <a:r>
              <a:rPr lang="de-DE" sz="2000" i="1" dirty="0"/>
              <a:t>“These </a:t>
            </a:r>
            <a:r>
              <a:rPr lang="de-DE" sz="2000" i="1" dirty="0" err="1"/>
              <a:t>seams</a:t>
            </a:r>
            <a:r>
              <a:rPr lang="de-DE" sz="2000" i="1" dirty="0"/>
              <a:t> </a:t>
            </a:r>
            <a:r>
              <a:rPr lang="de-DE" sz="2000" i="1" dirty="0" err="1"/>
              <a:t>exist</a:t>
            </a:r>
            <a:r>
              <a:rPr lang="de-DE" sz="2000" i="1" dirty="0"/>
              <a:t> </a:t>
            </a:r>
            <a:r>
              <a:rPr lang="de-DE" sz="2000" i="1" dirty="0" err="1"/>
              <a:t>to</a:t>
            </a:r>
            <a:r>
              <a:rPr lang="de-DE" sz="2000" i="1" dirty="0"/>
              <a:t> </a:t>
            </a:r>
            <a:r>
              <a:rPr lang="de-DE" sz="2000" i="1" dirty="0" err="1"/>
              <a:t>survive</a:t>
            </a:r>
            <a:r>
              <a:rPr lang="de-DE" sz="2000" i="1" dirty="0"/>
              <a:t> </a:t>
            </a:r>
            <a:r>
              <a:rPr lang="de-DE" sz="2000" i="1" dirty="0" err="1"/>
              <a:t>legacy</a:t>
            </a:r>
            <a:r>
              <a:rPr lang="de-DE" sz="2000" i="1" dirty="0"/>
              <a:t> code, not </a:t>
            </a:r>
            <a:r>
              <a:rPr lang="de-DE" sz="2000" i="1" dirty="0" err="1"/>
              <a:t>to</a:t>
            </a:r>
            <a:r>
              <a:rPr lang="de-DE" sz="2000" i="1" dirty="0"/>
              <a:t> design </a:t>
            </a:r>
            <a:r>
              <a:rPr lang="de-DE" sz="2000" i="1" dirty="0" err="1"/>
              <a:t>new</a:t>
            </a:r>
            <a:r>
              <a:rPr lang="de-DE" sz="2000" i="1" dirty="0"/>
              <a:t> code.”</a:t>
            </a:r>
            <a:endParaRPr lang="de-DE" sz="2000" dirty="0"/>
          </a:p>
          <a:p>
            <a:pPr marL="0" indent="0">
              <a:lnSpc>
                <a:spcPct val="120000"/>
              </a:lnSpc>
              <a:buNone/>
            </a:pPr>
            <a:r>
              <a:rPr lang="de-DE" sz="2000" b="1" dirty="0" err="1"/>
              <a:t>When</a:t>
            </a:r>
            <a:r>
              <a:rPr lang="de-DE" sz="2000" b="1" dirty="0"/>
              <a:t> </a:t>
            </a:r>
            <a:r>
              <a:rPr lang="de-DE" sz="2000" b="1" dirty="0" err="1"/>
              <a:t>they</a:t>
            </a:r>
            <a:r>
              <a:rPr lang="de-DE" sz="2000" b="1" dirty="0"/>
              <a:t> </a:t>
            </a:r>
            <a:r>
              <a:rPr lang="de-DE" sz="2000" b="1" dirty="0" err="1"/>
              <a:t>are</a:t>
            </a:r>
            <a:r>
              <a:rPr lang="de-DE" sz="2000" b="1" dirty="0"/>
              <a:t> still </a:t>
            </a:r>
            <a:r>
              <a:rPr lang="de-DE" sz="2000" b="1" dirty="0" err="1"/>
              <a:t>acceptable</a:t>
            </a:r>
            <a:endParaRPr lang="de-DE" sz="20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Legacy </a:t>
            </a:r>
            <a:r>
              <a:rPr lang="de-DE" sz="2000" dirty="0" err="1"/>
              <a:t>systems</a:t>
            </a:r>
            <a:r>
              <a:rPr lang="de-DE" sz="2000" dirty="0"/>
              <a:t>, </a:t>
            </a:r>
            <a:r>
              <a:rPr lang="de-DE" sz="2000" dirty="0" err="1"/>
              <a:t>No</a:t>
            </a:r>
            <a:r>
              <a:rPr lang="de-DE" sz="2000" dirty="0"/>
              <a:t> DI </a:t>
            </a:r>
            <a:r>
              <a:rPr lang="de-DE" sz="2000" dirty="0" err="1"/>
              <a:t>framework</a:t>
            </a:r>
            <a:r>
              <a:rPr lang="de-DE" sz="2000" dirty="0"/>
              <a:t> </a:t>
            </a:r>
            <a:r>
              <a:rPr lang="de-DE" sz="2000" dirty="0" err="1"/>
              <a:t>available,High-risk</a:t>
            </a:r>
            <a:r>
              <a:rPr lang="de-DE" sz="2000" dirty="0"/>
              <a:t> </a:t>
            </a:r>
            <a:r>
              <a:rPr lang="de-DE" sz="2000" dirty="0" err="1"/>
              <a:t>codebases</a:t>
            </a:r>
            <a:r>
              <a:rPr lang="de-DE" sz="2000" dirty="0"/>
              <a:t>, </a:t>
            </a:r>
            <a:r>
              <a:rPr lang="de-DE" sz="2000" dirty="0" err="1"/>
              <a:t>Incremental</a:t>
            </a:r>
            <a:r>
              <a:rPr lang="de-DE" sz="2000" dirty="0"/>
              <a:t> </a:t>
            </a:r>
            <a:r>
              <a:rPr lang="de-DE" sz="2000" dirty="0" err="1"/>
              <a:t>refactoring</a:t>
            </a:r>
            <a:r>
              <a:rPr lang="de-DE" sz="2000" dirty="0"/>
              <a:t> </a:t>
            </a:r>
            <a:r>
              <a:rPr lang="de-DE" sz="2000" dirty="0" err="1"/>
              <a:t>phases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222154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50905-8DE6-6EB6-2071-5EE7399E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Feathers’ </a:t>
            </a: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Relate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86D738-4DEF-B417-969C-A3E7277D2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Most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b="1" dirty="0" err="1"/>
              <a:t>introduce</a:t>
            </a:r>
            <a:r>
              <a:rPr lang="de-DE" b="1" dirty="0"/>
              <a:t> </a:t>
            </a:r>
            <a:r>
              <a:rPr lang="de-DE" b="1" dirty="0" err="1"/>
              <a:t>indirection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Early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b="1" dirty="0" err="1"/>
              <a:t>surgical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toward</a:t>
            </a:r>
            <a:r>
              <a:rPr lang="de-DE" dirty="0"/>
              <a:t> </a:t>
            </a:r>
            <a:r>
              <a:rPr lang="de-DE" b="1" dirty="0"/>
              <a:t>design </a:t>
            </a:r>
            <a:r>
              <a:rPr lang="de-DE" b="1" dirty="0" err="1"/>
              <a:t>improvement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Modern DI </a:t>
            </a:r>
            <a:r>
              <a:rPr lang="de-DE" dirty="0" err="1"/>
              <a:t>replaces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Legacy code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b="1" dirty="0"/>
              <a:t>multiple </a:t>
            </a:r>
            <a:r>
              <a:rPr lang="de-DE" b="1" dirty="0" err="1"/>
              <a:t>seams</a:t>
            </a:r>
            <a:r>
              <a:rPr lang="de-DE" b="1" dirty="0"/>
              <a:t> in </a:t>
            </a:r>
            <a:r>
              <a:rPr lang="de-DE" b="1" dirty="0" err="1"/>
              <a:t>sequence</a:t>
            </a:r>
            <a:endParaRPr lang="de-DE" dirty="0"/>
          </a:p>
          <a:p>
            <a:r>
              <a:rPr lang="de-DE" b="1" dirty="0"/>
              <a:t>Final </a:t>
            </a:r>
            <a:r>
              <a:rPr lang="de-DE" b="1" dirty="0" err="1"/>
              <a:t>key</a:t>
            </a:r>
            <a:r>
              <a:rPr lang="de-DE" b="1" dirty="0"/>
              <a:t> </a:t>
            </a:r>
            <a:r>
              <a:rPr lang="de-DE" b="1" dirty="0" err="1"/>
              <a:t>idea</a:t>
            </a:r>
            <a:endParaRPr lang="de-DE" dirty="0"/>
          </a:p>
          <a:p>
            <a:r>
              <a:rPr lang="de-DE" i="1" dirty="0"/>
              <a:t>“</a:t>
            </a:r>
            <a:r>
              <a:rPr lang="de-DE" i="1" dirty="0" err="1"/>
              <a:t>Seams</a:t>
            </a:r>
            <a:r>
              <a:rPr lang="de-DE" i="1" dirty="0"/>
              <a:t> </a:t>
            </a:r>
            <a:r>
              <a:rPr lang="de-DE" i="1" dirty="0" err="1"/>
              <a:t>are</a:t>
            </a:r>
            <a:r>
              <a:rPr lang="de-DE" i="1" dirty="0"/>
              <a:t> not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goal</a:t>
            </a:r>
            <a:r>
              <a:rPr lang="de-DE" i="1" dirty="0"/>
              <a:t> – </a:t>
            </a:r>
            <a:r>
              <a:rPr lang="de-DE" i="1" dirty="0" err="1"/>
              <a:t>they</a:t>
            </a:r>
            <a:r>
              <a:rPr lang="de-DE" i="1" dirty="0"/>
              <a:t> </a:t>
            </a:r>
            <a:r>
              <a:rPr lang="de-DE" i="1" dirty="0" err="1"/>
              <a:t>are</a:t>
            </a:r>
            <a:r>
              <a:rPr lang="de-DE" i="1" dirty="0"/>
              <a:t> </a:t>
            </a:r>
            <a:r>
              <a:rPr lang="de-DE" i="1" dirty="0" err="1"/>
              <a:t>the</a:t>
            </a:r>
            <a:r>
              <a:rPr lang="de-DE" i="1" dirty="0"/>
              <a:t> </a:t>
            </a:r>
            <a:r>
              <a:rPr lang="de-DE" i="1" dirty="0" err="1"/>
              <a:t>path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better</a:t>
            </a:r>
            <a:r>
              <a:rPr lang="de-DE" i="1" dirty="0"/>
              <a:t> design.”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0298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33D7F-7597-B63D-3DF2-7A69C340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Adapt</a:t>
            </a:r>
            <a:r>
              <a:rPr lang="de-DE" dirty="0"/>
              <a:t> 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35F8FC-5D45-20B6-173A-76EE42282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3940" cy="4351338"/>
          </a:xfrm>
        </p:spPr>
        <p:txBody>
          <a:bodyPr>
            <a:normAutofit fontScale="25000" lnSpcReduction="20000"/>
          </a:bodyPr>
          <a:lstStyle/>
          <a:p>
            <a:r>
              <a:rPr lang="de-DE" sz="7200" b="1" dirty="0" err="1"/>
              <a:t>What</a:t>
            </a:r>
            <a:r>
              <a:rPr lang="de-DE" sz="7200" b="1" dirty="0"/>
              <a:t> </a:t>
            </a:r>
            <a:r>
              <a:rPr lang="de-DE" sz="7200" b="1" dirty="0" err="1"/>
              <a:t>it</a:t>
            </a:r>
            <a:r>
              <a:rPr lang="de-DE" sz="7200" b="1" dirty="0"/>
              <a:t> </a:t>
            </a:r>
            <a:r>
              <a:rPr lang="de-DE" sz="7200" b="1" dirty="0" err="1"/>
              <a:t>is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Adapting</a:t>
            </a:r>
            <a:r>
              <a:rPr lang="de-DE" sz="7200" dirty="0"/>
              <a:t> a </a:t>
            </a:r>
            <a:r>
              <a:rPr lang="de-DE" sz="7200" dirty="0" err="1"/>
              <a:t>method</a:t>
            </a:r>
            <a:r>
              <a:rPr lang="de-DE" sz="7200" dirty="0"/>
              <a:t> </a:t>
            </a:r>
            <a:r>
              <a:rPr lang="de-DE" sz="7200" dirty="0" err="1"/>
              <a:t>or</a:t>
            </a:r>
            <a:r>
              <a:rPr lang="de-DE" sz="7200" dirty="0"/>
              <a:t> </a:t>
            </a:r>
            <a:r>
              <a:rPr lang="de-DE" sz="7200" dirty="0" err="1"/>
              <a:t>constructor</a:t>
            </a:r>
            <a:r>
              <a:rPr lang="de-DE" sz="7200" dirty="0"/>
              <a:t> </a:t>
            </a:r>
            <a:r>
              <a:rPr lang="de-DE" sz="7200" dirty="0" err="1"/>
              <a:t>parameter</a:t>
            </a:r>
            <a:r>
              <a:rPr lang="de-DE" sz="7200" dirty="0"/>
              <a:t> </a:t>
            </a:r>
            <a:r>
              <a:rPr lang="de-DE" sz="7200" dirty="0" err="1"/>
              <a:t>to</a:t>
            </a:r>
            <a:r>
              <a:rPr lang="de-DE" sz="7200" dirty="0"/>
              <a:t> </a:t>
            </a:r>
            <a:r>
              <a:rPr lang="de-DE" sz="7200" dirty="0" err="1"/>
              <a:t>decouple</a:t>
            </a:r>
            <a:r>
              <a:rPr lang="de-DE" sz="7200" dirty="0"/>
              <a:t> a </a:t>
            </a:r>
            <a:r>
              <a:rPr lang="de-DE" sz="7200" dirty="0" err="1"/>
              <a:t>class</a:t>
            </a:r>
            <a:r>
              <a:rPr lang="de-DE" sz="7200" dirty="0"/>
              <a:t> </a:t>
            </a:r>
            <a:r>
              <a:rPr lang="de-DE" sz="7200" dirty="0" err="1"/>
              <a:t>from</a:t>
            </a:r>
            <a:r>
              <a:rPr lang="de-DE" sz="7200" dirty="0"/>
              <a:t> a </a:t>
            </a:r>
            <a:r>
              <a:rPr lang="de-DE" sz="7200" dirty="0" err="1"/>
              <a:t>concrete</a:t>
            </a:r>
            <a:r>
              <a:rPr lang="de-DE" sz="7200" dirty="0"/>
              <a:t> </a:t>
            </a:r>
            <a:r>
              <a:rPr lang="de-DE" sz="7200" dirty="0" err="1"/>
              <a:t>dependency</a:t>
            </a:r>
            <a:r>
              <a:rPr lang="de-DE" sz="7200" dirty="0"/>
              <a:t>.</a:t>
            </a:r>
          </a:p>
          <a:p>
            <a:r>
              <a:rPr lang="de-DE" sz="7200" b="1" dirty="0" err="1"/>
              <a:t>How</a:t>
            </a:r>
            <a:r>
              <a:rPr lang="de-DE" sz="7200" b="1" dirty="0"/>
              <a:t> </a:t>
            </a:r>
            <a:r>
              <a:rPr lang="de-DE" sz="7200" b="1" dirty="0" err="1"/>
              <a:t>it</a:t>
            </a:r>
            <a:r>
              <a:rPr lang="de-DE" sz="7200" b="1" dirty="0"/>
              <a:t> </a:t>
            </a:r>
            <a:r>
              <a:rPr lang="de-DE" sz="7200" b="1" dirty="0" err="1"/>
              <a:t>works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Replace</a:t>
            </a:r>
            <a:r>
              <a:rPr lang="de-DE" sz="7200" dirty="0"/>
              <a:t> a </a:t>
            </a:r>
            <a:r>
              <a:rPr lang="de-DE" sz="7200" dirty="0" err="1"/>
              <a:t>concrete</a:t>
            </a:r>
            <a:r>
              <a:rPr lang="de-DE" sz="7200" dirty="0"/>
              <a:t> </a:t>
            </a:r>
            <a:r>
              <a:rPr lang="de-DE" sz="7200" dirty="0" err="1"/>
              <a:t>parameter</a:t>
            </a:r>
            <a:r>
              <a:rPr lang="de-DE" sz="7200" dirty="0"/>
              <a:t> type </a:t>
            </a:r>
            <a:r>
              <a:rPr lang="de-DE" sz="7200" dirty="0" err="1"/>
              <a:t>with</a:t>
            </a:r>
            <a:r>
              <a:rPr lang="de-DE" sz="7200" dirty="0"/>
              <a:t> an interface</a:t>
            </a:r>
          </a:p>
          <a:p>
            <a:r>
              <a:rPr lang="de-DE" sz="7200" b="1" dirty="0" err="1"/>
              <a:t>Typical</a:t>
            </a:r>
            <a:r>
              <a:rPr lang="de-DE" sz="7200" b="1" dirty="0"/>
              <a:t> </a:t>
            </a:r>
            <a:r>
              <a:rPr lang="de-DE" sz="7200" b="1" dirty="0" err="1"/>
              <a:t>implementation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Define</a:t>
            </a:r>
            <a:r>
              <a:rPr lang="de-DE" sz="7200" dirty="0"/>
              <a:t> an interface → </a:t>
            </a:r>
            <a:r>
              <a:rPr lang="de-DE" sz="7200" dirty="0" err="1"/>
              <a:t>implement</a:t>
            </a:r>
            <a:r>
              <a:rPr lang="de-DE" sz="7200" dirty="0"/>
              <a:t> an Adapter </a:t>
            </a:r>
            <a:r>
              <a:rPr lang="de-DE" sz="7200" dirty="0" err="1"/>
              <a:t>that</a:t>
            </a:r>
            <a:r>
              <a:rPr lang="de-DE" sz="7200" dirty="0"/>
              <a:t> </a:t>
            </a:r>
            <a:r>
              <a:rPr lang="de-DE" sz="7200" dirty="0" err="1"/>
              <a:t>wraps</a:t>
            </a:r>
            <a:r>
              <a:rPr lang="de-DE" sz="7200" dirty="0"/>
              <a:t> </a:t>
            </a:r>
            <a:r>
              <a:rPr lang="de-DE" sz="7200" dirty="0" err="1"/>
              <a:t>the</a:t>
            </a:r>
            <a:r>
              <a:rPr lang="de-DE" sz="7200" dirty="0"/>
              <a:t> original </a:t>
            </a:r>
            <a:r>
              <a:rPr lang="de-DE" sz="7200" dirty="0" err="1"/>
              <a:t>dependency</a:t>
            </a:r>
            <a:r>
              <a:rPr lang="de-DE" sz="7200" dirty="0"/>
              <a:t> → pass </a:t>
            </a:r>
            <a:r>
              <a:rPr lang="de-DE" sz="7200" dirty="0" err="1"/>
              <a:t>the</a:t>
            </a:r>
            <a:r>
              <a:rPr lang="de-DE" sz="7200" dirty="0"/>
              <a:t> </a:t>
            </a:r>
            <a:r>
              <a:rPr lang="de-DE" sz="7200" dirty="0" err="1"/>
              <a:t>adapter</a:t>
            </a:r>
            <a:r>
              <a:rPr lang="de-DE" sz="7200" dirty="0"/>
              <a:t> </a:t>
            </a:r>
            <a:r>
              <a:rPr lang="de-DE" sz="7200" dirty="0" err="1"/>
              <a:t>as</a:t>
            </a:r>
            <a:r>
              <a:rPr lang="de-DE" sz="7200" dirty="0"/>
              <a:t> a </a:t>
            </a:r>
            <a:r>
              <a:rPr lang="de-DE" sz="7200" dirty="0" err="1"/>
              <a:t>parameter</a:t>
            </a:r>
            <a:r>
              <a:rPr lang="de-DE" sz="7200" dirty="0"/>
              <a:t>.</a:t>
            </a:r>
          </a:p>
          <a:p>
            <a:r>
              <a:rPr lang="de-DE" sz="7200" b="1" dirty="0"/>
              <a:t>Main </a:t>
            </a:r>
            <a:r>
              <a:rPr lang="de-DE" sz="7200" b="1" dirty="0" err="1"/>
              <a:t>benefit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Reduces</a:t>
            </a:r>
            <a:r>
              <a:rPr lang="de-DE" sz="7200" dirty="0"/>
              <a:t> </a:t>
            </a:r>
            <a:r>
              <a:rPr lang="de-DE" sz="7200" dirty="0" err="1"/>
              <a:t>coupling</a:t>
            </a:r>
            <a:r>
              <a:rPr lang="de-DE" sz="7200" dirty="0"/>
              <a:t> and </a:t>
            </a:r>
            <a:r>
              <a:rPr lang="de-DE" sz="7200" dirty="0" err="1"/>
              <a:t>improves</a:t>
            </a:r>
            <a:r>
              <a:rPr lang="de-DE" sz="7200" dirty="0"/>
              <a:t> </a:t>
            </a:r>
            <a:r>
              <a:rPr lang="de-DE" sz="7200" dirty="0" err="1"/>
              <a:t>testability</a:t>
            </a:r>
            <a:r>
              <a:rPr lang="de-DE" sz="7200" dirty="0"/>
              <a:t> </a:t>
            </a:r>
            <a:r>
              <a:rPr lang="de-DE" sz="7200" dirty="0" err="1"/>
              <a:t>by</a:t>
            </a:r>
            <a:r>
              <a:rPr lang="de-DE" sz="7200" dirty="0"/>
              <a:t> </a:t>
            </a:r>
            <a:r>
              <a:rPr lang="de-DE" sz="7200" dirty="0" err="1"/>
              <a:t>avoiding</a:t>
            </a:r>
            <a:r>
              <a:rPr lang="de-DE" sz="7200" dirty="0"/>
              <a:t> </a:t>
            </a:r>
            <a:r>
              <a:rPr lang="de-DE" sz="7200" dirty="0" err="1"/>
              <a:t>direct</a:t>
            </a:r>
            <a:r>
              <a:rPr lang="de-DE" sz="7200" dirty="0"/>
              <a:t> </a:t>
            </a:r>
            <a:r>
              <a:rPr lang="de-DE" sz="7200" dirty="0" err="1"/>
              <a:t>dependency</a:t>
            </a:r>
            <a:r>
              <a:rPr lang="de-DE" sz="7200" dirty="0"/>
              <a:t> on </a:t>
            </a:r>
            <a:r>
              <a:rPr lang="de-DE" sz="7200" dirty="0" err="1"/>
              <a:t>concrete</a:t>
            </a:r>
            <a:r>
              <a:rPr lang="de-DE" sz="7200" dirty="0"/>
              <a:t> </a:t>
            </a:r>
            <a:r>
              <a:rPr lang="de-DE" sz="7200" dirty="0" err="1"/>
              <a:t>classes</a:t>
            </a:r>
            <a:r>
              <a:rPr lang="de-DE" sz="7200" dirty="0"/>
              <a:t>.</a:t>
            </a:r>
          </a:p>
          <a:p>
            <a:r>
              <a:rPr lang="de-DE" sz="7200" b="1" dirty="0" err="1"/>
              <a:t>When</a:t>
            </a:r>
            <a:r>
              <a:rPr lang="de-DE" sz="7200" b="1" dirty="0"/>
              <a:t> </a:t>
            </a:r>
            <a:r>
              <a:rPr lang="de-DE" sz="7200" b="1" dirty="0" err="1"/>
              <a:t>it</a:t>
            </a:r>
            <a:r>
              <a:rPr lang="de-DE" sz="7200" b="1" dirty="0"/>
              <a:t> </a:t>
            </a:r>
            <a:r>
              <a:rPr lang="de-DE" sz="7200" b="1" dirty="0" err="1"/>
              <a:t>is</a:t>
            </a:r>
            <a:r>
              <a:rPr lang="de-DE" sz="7200" b="1" dirty="0"/>
              <a:t> </a:t>
            </a:r>
            <a:r>
              <a:rPr lang="de-DE" sz="7200" b="1" dirty="0" err="1"/>
              <a:t>useful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When</a:t>
            </a:r>
            <a:r>
              <a:rPr lang="de-DE" sz="7200" dirty="0"/>
              <a:t> </a:t>
            </a:r>
            <a:r>
              <a:rPr lang="de-DE" sz="7200" dirty="0" err="1"/>
              <a:t>integrating</a:t>
            </a:r>
            <a:r>
              <a:rPr lang="de-DE" sz="7200" dirty="0"/>
              <a:t> </a:t>
            </a:r>
            <a:r>
              <a:rPr lang="de-DE" sz="7200" dirty="0" err="1"/>
              <a:t>legacy</a:t>
            </a:r>
            <a:r>
              <a:rPr lang="de-DE" sz="7200" dirty="0"/>
              <a:t> code, </a:t>
            </a:r>
            <a:r>
              <a:rPr lang="de-DE" sz="7200" dirty="0" err="1"/>
              <a:t>third</a:t>
            </a:r>
            <a:r>
              <a:rPr lang="de-DE" sz="7200" dirty="0"/>
              <a:t>-party </a:t>
            </a:r>
            <a:r>
              <a:rPr lang="de-DE" sz="7200" dirty="0" err="1"/>
              <a:t>libraries</a:t>
            </a:r>
            <a:r>
              <a:rPr lang="de-DE" sz="7200" dirty="0"/>
              <a:t>, </a:t>
            </a:r>
            <a:r>
              <a:rPr lang="de-DE" sz="7200" dirty="0" err="1"/>
              <a:t>or</a:t>
            </a:r>
            <a:r>
              <a:rPr lang="de-DE" sz="7200" dirty="0"/>
              <a:t> </a:t>
            </a:r>
            <a:r>
              <a:rPr lang="de-DE" sz="7200" dirty="0" err="1"/>
              <a:t>unstable</a:t>
            </a:r>
            <a:r>
              <a:rPr lang="de-DE" sz="7200" dirty="0"/>
              <a:t> APIs </a:t>
            </a:r>
            <a:r>
              <a:rPr lang="de-DE" sz="7200" dirty="0" err="1"/>
              <a:t>that</a:t>
            </a:r>
            <a:r>
              <a:rPr lang="de-DE" sz="7200" dirty="0"/>
              <a:t> </a:t>
            </a:r>
            <a:r>
              <a:rPr lang="de-DE" sz="7200" dirty="0" err="1"/>
              <a:t>you</a:t>
            </a:r>
            <a:r>
              <a:rPr lang="de-DE" sz="7200" dirty="0"/>
              <a:t> do not </a:t>
            </a:r>
            <a:r>
              <a:rPr lang="de-DE" sz="7200" dirty="0" err="1"/>
              <a:t>control</a:t>
            </a:r>
            <a:r>
              <a:rPr lang="de-DE" sz="7200" dirty="0"/>
              <a:t>. </a:t>
            </a:r>
            <a:r>
              <a:rPr lang="de-DE" sz="7200" dirty="0" err="1"/>
              <a:t>When</a:t>
            </a:r>
            <a:r>
              <a:rPr lang="de-DE" sz="7200" dirty="0"/>
              <a:t> </a:t>
            </a:r>
            <a:r>
              <a:rPr lang="de-DE" sz="7200" dirty="0" err="1"/>
              <a:t>you</a:t>
            </a:r>
            <a:r>
              <a:rPr lang="de-DE" sz="7200" dirty="0"/>
              <a:t> </a:t>
            </a:r>
            <a:r>
              <a:rPr lang="de-DE" sz="7200" dirty="0" err="1"/>
              <a:t>want</a:t>
            </a:r>
            <a:r>
              <a:rPr lang="de-DE" sz="7200" dirty="0"/>
              <a:t> </a:t>
            </a:r>
            <a:r>
              <a:rPr lang="de-DE" sz="7200" dirty="0" err="1"/>
              <a:t>to</a:t>
            </a:r>
            <a:r>
              <a:rPr lang="de-DE" sz="7200" dirty="0"/>
              <a:t> </a:t>
            </a:r>
            <a:r>
              <a:rPr lang="de-DE" sz="7200" dirty="0" err="1"/>
              <a:t>mock</a:t>
            </a:r>
            <a:r>
              <a:rPr lang="de-DE" sz="7200" dirty="0"/>
              <a:t> </a:t>
            </a:r>
            <a:r>
              <a:rPr lang="de-DE" sz="7200" dirty="0" err="1"/>
              <a:t>or</a:t>
            </a:r>
            <a:r>
              <a:rPr lang="de-DE" sz="7200" dirty="0"/>
              <a:t> </a:t>
            </a:r>
            <a:r>
              <a:rPr lang="de-DE" sz="7200" dirty="0" err="1"/>
              <a:t>stub</a:t>
            </a:r>
            <a:r>
              <a:rPr lang="de-DE" sz="7200" dirty="0"/>
              <a:t> </a:t>
            </a:r>
            <a:r>
              <a:rPr lang="de-DE" sz="7200" dirty="0" err="1"/>
              <a:t>dependencies</a:t>
            </a:r>
            <a:r>
              <a:rPr lang="de-DE" sz="7200" dirty="0"/>
              <a:t> </a:t>
            </a:r>
            <a:r>
              <a:rPr lang="de-DE" sz="7200" dirty="0" err="1"/>
              <a:t>easily</a:t>
            </a:r>
            <a:r>
              <a:rPr lang="de-DE" sz="7200" dirty="0"/>
              <a:t> in </a:t>
            </a:r>
            <a:r>
              <a:rPr lang="de-DE" sz="7200" dirty="0" err="1"/>
              <a:t>unit</a:t>
            </a:r>
            <a:r>
              <a:rPr lang="de-DE" sz="7200" dirty="0"/>
              <a:t> </a:t>
            </a:r>
            <a:r>
              <a:rPr lang="de-DE" sz="7200" dirty="0" err="1"/>
              <a:t>tests</a:t>
            </a:r>
            <a:r>
              <a:rPr lang="de-DE" sz="7200" dirty="0"/>
              <a:t> </a:t>
            </a:r>
            <a:r>
              <a:rPr lang="de-DE" sz="7200" dirty="0" err="1"/>
              <a:t>without</a:t>
            </a:r>
            <a:r>
              <a:rPr lang="de-DE" sz="7200" dirty="0"/>
              <a:t> </a:t>
            </a:r>
            <a:r>
              <a:rPr lang="de-DE" sz="7200" dirty="0" err="1"/>
              <a:t>complex</a:t>
            </a:r>
            <a:r>
              <a:rPr lang="de-DE" sz="7200" dirty="0"/>
              <a:t> </a:t>
            </a:r>
            <a:r>
              <a:rPr lang="de-DE" sz="7200" dirty="0" err="1"/>
              <a:t>setup</a:t>
            </a:r>
            <a:r>
              <a:rPr lang="de-DE" sz="7200" dirty="0"/>
              <a:t>.</a:t>
            </a:r>
          </a:p>
          <a:p>
            <a:r>
              <a:rPr lang="de-DE" sz="7200" b="1" dirty="0" err="1"/>
              <a:t>When</a:t>
            </a:r>
            <a:r>
              <a:rPr lang="de-DE" sz="7200" b="1" dirty="0"/>
              <a:t> </a:t>
            </a:r>
            <a:r>
              <a:rPr lang="de-DE" sz="7200" b="1" dirty="0" err="1"/>
              <a:t>it</a:t>
            </a:r>
            <a:r>
              <a:rPr lang="de-DE" sz="7200" b="1" dirty="0"/>
              <a:t> </a:t>
            </a:r>
            <a:r>
              <a:rPr lang="de-DE" sz="7200" b="1" dirty="0" err="1"/>
              <a:t>is</a:t>
            </a:r>
            <a:r>
              <a:rPr lang="de-DE" sz="7200" b="1" dirty="0"/>
              <a:t> NOT </a:t>
            </a:r>
            <a:r>
              <a:rPr lang="de-DE" sz="7200" b="1" dirty="0" err="1"/>
              <a:t>useful</a:t>
            </a:r>
            <a:r>
              <a:rPr lang="de-DE" sz="7200" b="1" dirty="0"/>
              <a:t>:</a:t>
            </a:r>
            <a:br>
              <a:rPr lang="de-DE" sz="7200" dirty="0"/>
            </a:br>
            <a:r>
              <a:rPr lang="de-DE" sz="7200" dirty="0" err="1"/>
              <a:t>If</a:t>
            </a:r>
            <a:r>
              <a:rPr lang="de-DE" sz="7200" dirty="0"/>
              <a:t> </a:t>
            </a:r>
            <a:r>
              <a:rPr lang="de-DE" sz="7200" dirty="0" err="1"/>
              <a:t>the</a:t>
            </a:r>
            <a:r>
              <a:rPr lang="de-DE" sz="7200" dirty="0"/>
              <a:t> </a:t>
            </a:r>
            <a:r>
              <a:rPr lang="de-DE" sz="7200" dirty="0" err="1"/>
              <a:t>dependency</a:t>
            </a:r>
            <a:r>
              <a:rPr lang="de-DE" sz="7200" dirty="0"/>
              <a:t> </a:t>
            </a:r>
            <a:r>
              <a:rPr lang="de-DE" sz="7200" dirty="0" err="1"/>
              <a:t>is</a:t>
            </a:r>
            <a:r>
              <a:rPr lang="de-DE" sz="7200" dirty="0"/>
              <a:t> </a:t>
            </a:r>
            <a:r>
              <a:rPr lang="de-DE" sz="7200" dirty="0" err="1"/>
              <a:t>stable</a:t>
            </a:r>
            <a:r>
              <a:rPr lang="de-DE" sz="7200" dirty="0"/>
              <a:t>, simple, and </a:t>
            </a:r>
            <a:r>
              <a:rPr lang="de-DE" sz="7200" dirty="0" err="1"/>
              <a:t>already</a:t>
            </a:r>
            <a:r>
              <a:rPr lang="de-DE" sz="7200" dirty="0"/>
              <a:t> an </a:t>
            </a:r>
            <a:r>
              <a:rPr lang="de-DE" sz="7200" dirty="0" err="1"/>
              <a:t>abstraction</a:t>
            </a:r>
            <a:r>
              <a:rPr lang="de-DE" sz="7200" dirty="0"/>
              <a:t>—</a:t>
            </a:r>
            <a:r>
              <a:rPr lang="de-DE" sz="7200" dirty="0" err="1"/>
              <a:t>adaptation</a:t>
            </a:r>
            <a:r>
              <a:rPr lang="de-DE" sz="7200" dirty="0"/>
              <a:t> </a:t>
            </a:r>
            <a:r>
              <a:rPr lang="de-DE" sz="7200" dirty="0" err="1"/>
              <a:t>would</a:t>
            </a:r>
            <a:r>
              <a:rPr lang="de-DE" sz="7200" dirty="0"/>
              <a:t> </a:t>
            </a:r>
            <a:r>
              <a:rPr lang="de-DE" sz="7200" dirty="0" err="1"/>
              <a:t>add</a:t>
            </a:r>
            <a:r>
              <a:rPr lang="de-DE" sz="7200" dirty="0"/>
              <a:t> </a:t>
            </a:r>
            <a:r>
              <a:rPr lang="de-DE" sz="7200" dirty="0" err="1"/>
              <a:t>unnecessary</a:t>
            </a:r>
            <a:r>
              <a:rPr lang="de-DE" sz="7200" dirty="0"/>
              <a:t> </a:t>
            </a:r>
            <a:r>
              <a:rPr lang="de-DE" sz="7200" dirty="0" err="1"/>
              <a:t>complexity</a:t>
            </a:r>
            <a:r>
              <a:rPr lang="de-DE" sz="7200" dirty="0"/>
              <a:t>.</a:t>
            </a:r>
          </a:p>
          <a:p>
            <a:r>
              <a:rPr lang="de-DE" sz="7200" b="1" dirty="0"/>
              <a:t>Trade-offs:</a:t>
            </a:r>
            <a:br>
              <a:rPr lang="de-DE" sz="7200" dirty="0"/>
            </a:br>
            <a:r>
              <a:rPr lang="de-DE" sz="7200" dirty="0" err="1"/>
              <a:t>Adds</a:t>
            </a:r>
            <a:r>
              <a:rPr lang="de-DE" sz="7200" dirty="0"/>
              <a:t> extra </a:t>
            </a:r>
            <a:r>
              <a:rPr lang="de-DE" sz="7200" dirty="0" err="1"/>
              <a:t>indirection</a:t>
            </a:r>
            <a:r>
              <a:rPr lang="de-DE" sz="7200" dirty="0"/>
              <a:t> and </a:t>
            </a:r>
            <a:r>
              <a:rPr lang="de-DE" sz="7200" dirty="0" err="1"/>
              <a:t>boilerplate</a:t>
            </a:r>
            <a:r>
              <a:rPr lang="de-DE" sz="7200" dirty="0"/>
              <a:t>; </a:t>
            </a:r>
            <a:r>
              <a:rPr lang="de-DE" sz="7200" dirty="0" err="1"/>
              <a:t>overuse</a:t>
            </a:r>
            <a:r>
              <a:rPr lang="de-DE" sz="7200" dirty="0"/>
              <a:t> </a:t>
            </a:r>
            <a:r>
              <a:rPr lang="de-DE" sz="7200" dirty="0" err="1"/>
              <a:t>can</a:t>
            </a:r>
            <a:r>
              <a:rPr lang="de-DE" sz="7200" dirty="0"/>
              <a:t> </a:t>
            </a:r>
            <a:r>
              <a:rPr lang="de-DE" sz="7200" dirty="0" err="1"/>
              <a:t>harm</a:t>
            </a:r>
            <a:r>
              <a:rPr lang="de-DE" sz="7200" dirty="0"/>
              <a:t> </a:t>
            </a:r>
            <a:r>
              <a:rPr lang="de-DE" sz="7200" dirty="0" err="1"/>
              <a:t>readability</a:t>
            </a:r>
            <a:r>
              <a:rPr lang="de-DE" sz="7200" dirty="0"/>
              <a:t> and </a:t>
            </a:r>
            <a:r>
              <a:rPr lang="de-DE" sz="7200" dirty="0" err="1"/>
              <a:t>make</a:t>
            </a:r>
            <a:r>
              <a:rPr lang="de-DE" sz="7200" dirty="0"/>
              <a:t> </a:t>
            </a:r>
            <a:r>
              <a:rPr lang="de-DE" sz="7200" dirty="0" err="1"/>
              <a:t>the</a:t>
            </a:r>
            <a:r>
              <a:rPr lang="de-DE" sz="7200" dirty="0"/>
              <a:t> design </a:t>
            </a:r>
            <a:r>
              <a:rPr lang="de-DE" sz="7200" dirty="0" err="1"/>
              <a:t>harder</a:t>
            </a:r>
            <a:r>
              <a:rPr lang="de-DE" sz="7200" dirty="0"/>
              <a:t> </a:t>
            </a:r>
            <a:r>
              <a:rPr lang="de-DE" sz="7200" dirty="0" err="1"/>
              <a:t>to</a:t>
            </a:r>
            <a:r>
              <a:rPr lang="de-DE" sz="7200" dirty="0"/>
              <a:t> follow.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112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7C1DD-B7BE-998D-7C4E-646C7188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Break Out Method </a:t>
            </a:r>
            <a:r>
              <a:rPr lang="de-DE" dirty="0" err="1"/>
              <a:t>Object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BDEDB8-EB99-1301-563E-3EF1659CA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dedicated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isolate</a:t>
            </a:r>
            <a:r>
              <a:rPr lang="de-DE" dirty="0"/>
              <a:t> and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Move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method’s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and pass </a:t>
            </a:r>
            <a:r>
              <a:rPr lang="de-DE" dirty="0" err="1"/>
              <a:t>dependencies</a:t>
            </a:r>
            <a:r>
              <a:rPr lang="de-DE" dirty="0"/>
              <a:t> via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Original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delegates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→ Method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encapsulates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→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injected</a:t>
            </a:r>
            <a:r>
              <a:rPr lang="de-DE" dirty="0"/>
              <a:t> </a:t>
            </a:r>
            <a:r>
              <a:rPr lang="de-DE" dirty="0" err="1"/>
              <a:t>explicitly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allowing</a:t>
            </a:r>
            <a:r>
              <a:rPr lang="de-DE" dirty="0"/>
              <a:t> </a:t>
            </a:r>
            <a:r>
              <a:rPr lang="de-DE" dirty="0" err="1"/>
              <a:t>fine-grained</a:t>
            </a:r>
            <a:r>
              <a:rPr lang="de-DE" dirty="0"/>
              <a:t> </a:t>
            </a:r>
            <a:r>
              <a:rPr lang="de-DE" dirty="0" err="1"/>
              <a:t>mocking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stubbing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multiple </a:t>
            </a:r>
            <a:r>
              <a:rPr lang="de-DE" dirty="0" err="1"/>
              <a:t>dependencies</a:t>
            </a:r>
            <a:r>
              <a:rPr lang="de-DE" dirty="0"/>
              <a:t>,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branching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.</a:t>
            </a:r>
          </a:p>
          <a:p>
            <a:r>
              <a:rPr lang="de-DE" b="1" dirty="0"/>
              <a:t>Also </a:t>
            </a:r>
            <a:r>
              <a:rPr lang="de-DE" b="1" dirty="0" err="1"/>
              <a:t>useful</a:t>
            </a:r>
            <a:r>
              <a:rPr lang="de-DE" b="1" dirty="0"/>
              <a:t> </a:t>
            </a:r>
            <a:r>
              <a:rPr lang="de-DE" b="1" dirty="0" err="1"/>
              <a:t>when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mock</a:t>
            </a:r>
            <a:r>
              <a:rPr lang="de-DE" dirty="0"/>
              <a:t> (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, </a:t>
            </a:r>
            <a:r>
              <a:rPr lang="de-DE" dirty="0" err="1"/>
              <a:t>framework</a:t>
            </a:r>
            <a:r>
              <a:rPr lang="de-DE" dirty="0"/>
              <a:t> APIs, time, IO).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, simple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extraction</a:t>
            </a:r>
            <a:r>
              <a:rPr lang="de-DE" dirty="0"/>
              <a:t> </a:t>
            </a:r>
            <a:r>
              <a:rPr lang="de-DE" dirty="0" err="1"/>
              <a:t>adds</a:t>
            </a:r>
            <a:r>
              <a:rPr lang="de-DE" dirty="0"/>
              <a:t> </a:t>
            </a:r>
            <a:r>
              <a:rPr lang="de-DE" dirty="0" err="1"/>
              <a:t>unnecessary</a:t>
            </a:r>
            <a:r>
              <a:rPr lang="de-DE" dirty="0"/>
              <a:t> </a:t>
            </a:r>
            <a:r>
              <a:rPr lang="de-DE" dirty="0" err="1"/>
              <a:t>indirection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Introduces</a:t>
            </a:r>
            <a:r>
              <a:rPr lang="de-DE" dirty="0"/>
              <a:t> additional </a:t>
            </a:r>
            <a:r>
              <a:rPr lang="de-DE" dirty="0" err="1"/>
              <a:t>classes</a:t>
            </a:r>
            <a:r>
              <a:rPr lang="de-DE" dirty="0"/>
              <a:t> and </a:t>
            </a:r>
            <a:r>
              <a:rPr lang="de-DE" dirty="0" err="1"/>
              <a:t>indirection</a:t>
            </a:r>
            <a:r>
              <a:rPr lang="de-DE" dirty="0"/>
              <a:t>; </a:t>
            </a:r>
            <a:r>
              <a:rPr lang="de-DE" dirty="0" err="1"/>
              <a:t>overuse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fragment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design.</a:t>
            </a:r>
          </a:p>
        </p:txBody>
      </p:sp>
    </p:spTree>
    <p:extLst>
      <p:ext uri="{BB962C8B-B14F-4D97-AF65-F5344CB8AC3E}">
        <p14:creationId xmlns:p14="http://schemas.microsoft.com/office/powerpoint/2010/main" val="3292601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DA5457-7F06-0398-33CA-E424D74C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 </a:t>
            </a:r>
            <a:r>
              <a:rPr lang="de-DE" dirty="0" err="1"/>
              <a:t>completion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32DBDF-9024-2C66-2DAB-F5DFA0071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Autofit/>
          </a:bodyPr>
          <a:lstStyle/>
          <a:p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it</a:t>
            </a:r>
            <a:r>
              <a:rPr lang="de-DE" sz="1800" b="1" dirty="0"/>
              <a:t> </a:t>
            </a:r>
            <a:r>
              <a:rPr lang="de-DE" sz="1800" b="1" dirty="0" err="1"/>
              <a:t>is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Completing</a:t>
            </a:r>
            <a:r>
              <a:rPr lang="de-DE" sz="1800" dirty="0"/>
              <a:t>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redefining</a:t>
            </a:r>
            <a:r>
              <a:rPr lang="de-DE" sz="1800" dirty="0"/>
              <a:t> a </a:t>
            </a:r>
            <a:r>
              <a:rPr lang="de-DE" sz="1800" dirty="0" err="1"/>
              <a:t>dependency</a:t>
            </a:r>
            <a:r>
              <a:rPr lang="de-DE" sz="1800" dirty="0"/>
              <a:t> </a:t>
            </a:r>
            <a:r>
              <a:rPr lang="de-DE" sz="1800" dirty="0" err="1"/>
              <a:t>locally</a:t>
            </a:r>
            <a:r>
              <a:rPr lang="de-DE" sz="1800" dirty="0"/>
              <a:t> so </a:t>
            </a:r>
            <a:r>
              <a:rPr lang="de-DE" sz="1800" dirty="0" err="1"/>
              <a:t>the</a:t>
            </a:r>
            <a:r>
              <a:rPr lang="de-DE" sz="1800" dirty="0"/>
              <a:t> code </a:t>
            </a:r>
            <a:r>
              <a:rPr lang="de-DE" sz="1800" dirty="0" err="1"/>
              <a:t>under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 </a:t>
            </a: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longer</a:t>
            </a:r>
            <a:r>
              <a:rPr lang="de-DE" sz="1800" dirty="0"/>
              <a:t> </a:t>
            </a:r>
            <a:r>
              <a:rPr lang="de-DE" sz="1800" dirty="0" err="1"/>
              <a:t>relies</a:t>
            </a:r>
            <a:r>
              <a:rPr lang="de-DE" sz="1800" dirty="0"/>
              <a:t> on </a:t>
            </a:r>
            <a:r>
              <a:rPr lang="de-DE" sz="1800" dirty="0" err="1"/>
              <a:t>the</a:t>
            </a:r>
            <a:r>
              <a:rPr lang="de-DE" sz="1800" dirty="0"/>
              <a:t> original </a:t>
            </a:r>
            <a:r>
              <a:rPr lang="de-DE" sz="1800" dirty="0" err="1"/>
              <a:t>implementation</a:t>
            </a:r>
            <a:r>
              <a:rPr lang="de-DE" sz="1800" dirty="0"/>
              <a:t>.</a:t>
            </a:r>
          </a:p>
          <a:p>
            <a:r>
              <a:rPr lang="de-DE" sz="1800" b="1" dirty="0" err="1"/>
              <a:t>How</a:t>
            </a:r>
            <a:r>
              <a:rPr lang="de-DE" sz="1800" b="1" dirty="0"/>
              <a:t> </a:t>
            </a:r>
            <a:r>
              <a:rPr lang="de-DE" sz="1800" b="1" dirty="0" err="1"/>
              <a:t>it</a:t>
            </a:r>
            <a:r>
              <a:rPr lang="de-DE" sz="1800" b="1" dirty="0"/>
              <a:t> </a:t>
            </a:r>
            <a:r>
              <a:rPr lang="de-DE" sz="1800" b="1" dirty="0" err="1"/>
              <a:t>works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Replace</a:t>
            </a:r>
            <a:r>
              <a:rPr lang="de-DE" sz="1800" dirty="0"/>
              <a:t> an </a:t>
            </a:r>
            <a:r>
              <a:rPr lang="de-DE" sz="1800" dirty="0" err="1"/>
              <a:t>incomplete</a:t>
            </a:r>
            <a:r>
              <a:rPr lang="de-DE" sz="1800" dirty="0"/>
              <a:t>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implicit</a:t>
            </a:r>
            <a:r>
              <a:rPr lang="de-DE" sz="1800" dirty="0"/>
              <a:t> </a:t>
            </a:r>
            <a:r>
              <a:rPr lang="de-DE" sz="1800" dirty="0" err="1"/>
              <a:t>dependency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a test-</a:t>
            </a:r>
            <a:r>
              <a:rPr lang="de-DE" sz="1800" dirty="0" err="1"/>
              <a:t>specific</a:t>
            </a:r>
            <a:r>
              <a:rPr lang="de-DE" sz="1800" dirty="0"/>
              <a:t> </a:t>
            </a:r>
            <a:r>
              <a:rPr lang="de-DE" sz="1800" dirty="0" err="1"/>
              <a:t>implementation</a:t>
            </a:r>
            <a:r>
              <a:rPr lang="de-DE" sz="1800" dirty="0"/>
              <a:t> (e.g. </a:t>
            </a:r>
            <a:r>
              <a:rPr lang="de-DE" sz="1800" dirty="0" err="1"/>
              <a:t>stub</a:t>
            </a:r>
            <a:r>
              <a:rPr lang="de-DE" sz="1800" dirty="0"/>
              <a:t>, fake,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subclass</a:t>
            </a:r>
            <a:r>
              <a:rPr lang="de-DE" sz="1800" dirty="0"/>
              <a:t>).</a:t>
            </a:r>
          </a:p>
          <a:p>
            <a:r>
              <a:rPr lang="de-DE" sz="1800" b="1" dirty="0" err="1"/>
              <a:t>Typical</a:t>
            </a:r>
            <a:r>
              <a:rPr lang="de-DE" sz="1800" b="1" dirty="0"/>
              <a:t> </a:t>
            </a:r>
            <a:r>
              <a:rPr lang="de-DE" sz="1800" b="1" dirty="0" err="1"/>
              <a:t>implementation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Provide</a:t>
            </a:r>
            <a:r>
              <a:rPr lang="de-DE" sz="1800" dirty="0"/>
              <a:t> a minimal </a:t>
            </a:r>
            <a:r>
              <a:rPr lang="de-DE" sz="1800" dirty="0" err="1"/>
              <a:t>implementation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fulfills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required</a:t>
            </a:r>
            <a:r>
              <a:rPr lang="de-DE" sz="1800" dirty="0"/>
              <a:t> </a:t>
            </a:r>
            <a:r>
              <a:rPr lang="de-DE" sz="1800" dirty="0" err="1"/>
              <a:t>contract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 </a:t>
            </a:r>
            <a:r>
              <a:rPr lang="de-DE" sz="1800" dirty="0" err="1"/>
              <a:t>scenario</a:t>
            </a:r>
            <a:r>
              <a:rPr lang="de-DE" sz="1800" dirty="0"/>
              <a:t>.</a:t>
            </a:r>
          </a:p>
          <a:p>
            <a:r>
              <a:rPr lang="de-DE" sz="1800" b="1" dirty="0"/>
              <a:t>Main </a:t>
            </a:r>
            <a:r>
              <a:rPr lang="de-DE" sz="1800" b="1" dirty="0" err="1"/>
              <a:t>benefit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Eliminates</a:t>
            </a:r>
            <a:r>
              <a:rPr lang="de-DE" sz="1800" dirty="0"/>
              <a:t> </a:t>
            </a:r>
            <a:r>
              <a:rPr lang="de-DE" sz="1800" dirty="0" err="1"/>
              <a:t>hard</a:t>
            </a:r>
            <a:r>
              <a:rPr lang="de-DE" sz="1800" dirty="0"/>
              <a:t> </a:t>
            </a:r>
            <a:r>
              <a:rPr lang="de-DE" sz="1800" dirty="0" err="1"/>
              <a:t>dependencies</a:t>
            </a:r>
            <a:r>
              <a:rPr lang="de-DE" sz="1800" dirty="0"/>
              <a:t> and </a:t>
            </a:r>
            <a:r>
              <a:rPr lang="de-DE" sz="1800" dirty="0" err="1"/>
              <a:t>enables</a:t>
            </a:r>
            <a:r>
              <a:rPr lang="de-DE" sz="1800" dirty="0"/>
              <a:t> fast, </a:t>
            </a:r>
            <a:r>
              <a:rPr lang="de-DE" sz="1800" dirty="0" err="1"/>
              <a:t>isolated</a:t>
            </a:r>
            <a:r>
              <a:rPr lang="de-DE" sz="1800" dirty="0"/>
              <a:t> </a:t>
            </a:r>
            <a:r>
              <a:rPr lang="de-DE" sz="1800" dirty="0" err="1"/>
              <a:t>unit</a:t>
            </a:r>
            <a:r>
              <a:rPr lang="de-DE" sz="1800" dirty="0"/>
              <a:t> </a:t>
            </a:r>
            <a:r>
              <a:rPr lang="de-DE" sz="1800" dirty="0" err="1"/>
              <a:t>tests</a:t>
            </a:r>
            <a:r>
              <a:rPr lang="de-DE" sz="1800" dirty="0"/>
              <a:t>.</a:t>
            </a:r>
          </a:p>
          <a:p>
            <a:r>
              <a:rPr lang="de-DE" sz="1800" b="1" dirty="0" err="1"/>
              <a:t>When</a:t>
            </a:r>
            <a:r>
              <a:rPr lang="de-DE" sz="1800" b="1" dirty="0"/>
              <a:t> </a:t>
            </a:r>
            <a:r>
              <a:rPr lang="de-DE" sz="1800" b="1" dirty="0" err="1"/>
              <a:t>it</a:t>
            </a:r>
            <a:r>
              <a:rPr lang="de-DE" sz="1800" b="1" dirty="0"/>
              <a:t> </a:t>
            </a:r>
            <a:r>
              <a:rPr lang="de-DE" sz="1800" b="1" dirty="0" err="1"/>
              <a:t>is</a:t>
            </a:r>
            <a:r>
              <a:rPr lang="de-DE" sz="1800" b="1" dirty="0"/>
              <a:t> </a:t>
            </a:r>
            <a:r>
              <a:rPr lang="de-DE" sz="1800" b="1" dirty="0" err="1"/>
              <a:t>useful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When</a:t>
            </a:r>
            <a:r>
              <a:rPr lang="de-DE" sz="1800" dirty="0"/>
              <a:t> </a:t>
            </a:r>
            <a:r>
              <a:rPr lang="de-DE" sz="1800" dirty="0" err="1"/>
              <a:t>production</a:t>
            </a:r>
            <a:r>
              <a:rPr lang="de-DE" sz="1800" dirty="0"/>
              <a:t> </a:t>
            </a:r>
            <a:r>
              <a:rPr lang="de-DE" sz="1800" dirty="0" err="1"/>
              <a:t>dependencies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unavailable</a:t>
            </a:r>
            <a:r>
              <a:rPr lang="de-DE" sz="1800" dirty="0"/>
              <a:t>, slow, </a:t>
            </a:r>
            <a:r>
              <a:rPr lang="de-DE" sz="1800" dirty="0" err="1"/>
              <a:t>or</a:t>
            </a:r>
            <a:r>
              <a:rPr lang="de-DE" sz="1800" dirty="0"/>
              <a:t> </a:t>
            </a:r>
            <a:r>
              <a:rPr lang="de-DE" sz="1800" dirty="0" err="1"/>
              <a:t>hard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instantiate</a:t>
            </a:r>
            <a:r>
              <a:rPr lang="de-DE" sz="1800" dirty="0"/>
              <a:t> in </a:t>
            </a:r>
            <a:r>
              <a:rPr lang="de-DE" sz="1800" dirty="0" err="1"/>
              <a:t>tests</a:t>
            </a:r>
            <a:r>
              <a:rPr lang="de-DE" sz="1800" dirty="0"/>
              <a:t>. </a:t>
            </a:r>
            <a:r>
              <a:rPr lang="de-DE" sz="1800" dirty="0" err="1"/>
              <a:t>When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dependency</a:t>
            </a:r>
            <a:r>
              <a:rPr lang="de-DE" sz="1800" dirty="0"/>
              <a:t> </a:t>
            </a:r>
            <a:r>
              <a:rPr lang="de-DE" sz="1800" dirty="0" err="1"/>
              <a:t>behavior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only</a:t>
            </a:r>
            <a:r>
              <a:rPr lang="de-DE" sz="1800" dirty="0"/>
              <a:t> </a:t>
            </a:r>
            <a:r>
              <a:rPr lang="de-DE" sz="1800" dirty="0" err="1"/>
              <a:t>partially</a:t>
            </a:r>
            <a:r>
              <a:rPr lang="de-DE" sz="1800" dirty="0"/>
              <a:t> </a:t>
            </a:r>
            <a:r>
              <a:rPr lang="de-DE" sz="1800" dirty="0" err="1"/>
              <a:t>needed</a:t>
            </a:r>
            <a:r>
              <a:rPr lang="de-DE" sz="1800" dirty="0"/>
              <a:t> and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safely</a:t>
            </a:r>
            <a:r>
              <a:rPr lang="de-DE" sz="1800" dirty="0"/>
              <a:t> </a:t>
            </a:r>
            <a:r>
              <a:rPr lang="de-DE" sz="1800" dirty="0" err="1"/>
              <a:t>simplified</a:t>
            </a:r>
            <a:r>
              <a:rPr lang="de-DE" sz="1800" dirty="0"/>
              <a:t>.</a:t>
            </a:r>
          </a:p>
          <a:p>
            <a:r>
              <a:rPr lang="de-DE" sz="1800" b="1" dirty="0" err="1"/>
              <a:t>When</a:t>
            </a:r>
            <a:r>
              <a:rPr lang="de-DE" sz="1800" b="1" dirty="0"/>
              <a:t> </a:t>
            </a:r>
            <a:r>
              <a:rPr lang="de-DE" sz="1800" b="1" dirty="0" err="1"/>
              <a:t>it</a:t>
            </a:r>
            <a:r>
              <a:rPr lang="de-DE" sz="1800" b="1" dirty="0"/>
              <a:t> </a:t>
            </a:r>
            <a:r>
              <a:rPr lang="de-DE" sz="1800" b="1" dirty="0" err="1"/>
              <a:t>is</a:t>
            </a:r>
            <a:r>
              <a:rPr lang="de-DE" sz="1800" b="1" dirty="0"/>
              <a:t> NOT </a:t>
            </a:r>
            <a:r>
              <a:rPr lang="de-DE" sz="1800" b="1" dirty="0" err="1"/>
              <a:t>useful</a:t>
            </a:r>
            <a:r>
              <a:rPr lang="de-DE" sz="1800" b="1" dirty="0"/>
              <a:t>:</a:t>
            </a:r>
            <a:br>
              <a:rPr lang="de-DE" sz="1800" dirty="0"/>
            </a:br>
            <a:r>
              <a:rPr lang="de-DE" sz="1800" dirty="0" err="1"/>
              <a:t>If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dependency</a:t>
            </a:r>
            <a:r>
              <a:rPr lang="de-DE" sz="1800" dirty="0"/>
              <a:t> </a:t>
            </a:r>
            <a:r>
              <a:rPr lang="de-DE" sz="1800" dirty="0" err="1"/>
              <a:t>has</a:t>
            </a:r>
            <a:r>
              <a:rPr lang="de-DE" sz="1800" dirty="0"/>
              <a:t> </a:t>
            </a:r>
            <a:r>
              <a:rPr lang="de-DE" sz="1800" dirty="0" err="1"/>
              <a:t>complex</a:t>
            </a:r>
            <a:r>
              <a:rPr lang="de-DE" sz="1800" dirty="0"/>
              <a:t> </a:t>
            </a:r>
            <a:r>
              <a:rPr lang="de-DE" sz="1800" dirty="0" err="1"/>
              <a:t>semantics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must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validated</a:t>
            </a:r>
            <a:r>
              <a:rPr lang="de-DE" sz="1800" dirty="0"/>
              <a:t> end-</a:t>
            </a:r>
            <a:r>
              <a:rPr lang="de-DE" sz="1800" dirty="0" err="1"/>
              <a:t>to</a:t>
            </a:r>
            <a:r>
              <a:rPr lang="de-DE" sz="1800" dirty="0"/>
              <a:t>-end.</a:t>
            </a:r>
          </a:p>
          <a:p>
            <a:r>
              <a:rPr lang="de-DE" sz="1800" b="1" dirty="0"/>
              <a:t>Trade-offs:</a:t>
            </a:r>
            <a:br>
              <a:rPr lang="de-DE" sz="1800" dirty="0"/>
            </a:br>
            <a:r>
              <a:rPr lang="de-DE" sz="1800" dirty="0"/>
              <a:t>Risk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divergence</a:t>
            </a:r>
            <a:r>
              <a:rPr lang="de-DE" sz="1800" dirty="0"/>
              <a:t> </a:t>
            </a:r>
            <a:r>
              <a:rPr lang="de-DE" sz="1800" dirty="0" err="1"/>
              <a:t>between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 and </a:t>
            </a:r>
            <a:r>
              <a:rPr lang="de-DE" sz="1800" dirty="0" err="1"/>
              <a:t>production</a:t>
            </a:r>
            <a:r>
              <a:rPr lang="de-DE" sz="1800" dirty="0"/>
              <a:t> </a:t>
            </a:r>
            <a:r>
              <a:rPr lang="de-DE" sz="1800" dirty="0" err="1"/>
              <a:t>behavior</a:t>
            </a:r>
            <a:r>
              <a:rPr lang="de-DE" sz="1800" dirty="0"/>
              <a:t> </a:t>
            </a:r>
            <a:r>
              <a:rPr lang="de-DE" sz="1800" dirty="0" err="1"/>
              <a:t>if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contract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not </a:t>
            </a:r>
            <a:r>
              <a:rPr lang="de-DE" sz="1800" dirty="0" err="1"/>
              <a:t>well</a:t>
            </a:r>
            <a:r>
              <a:rPr lang="de-DE" sz="1800" dirty="0"/>
              <a:t> </a:t>
            </a:r>
            <a:r>
              <a:rPr lang="de-DE" sz="1800" dirty="0" err="1"/>
              <a:t>defined</a:t>
            </a:r>
            <a:r>
              <a:rPr lang="de-DE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895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255BD-0354-9878-9F7B-69416745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Encapsulate</a:t>
            </a:r>
            <a:r>
              <a:rPr lang="de-DE" dirty="0"/>
              <a:t> Global References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90925B-AEAE-77EB-81FF-048EB14C4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Wrapping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global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references</a:t>
            </a:r>
            <a:r>
              <a:rPr lang="de-DE" dirty="0"/>
              <a:t> </a:t>
            </a:r>
            <a:r>
              <a:rPr lang="de-DE" dirty="0" err="1"/>
              <a:t>behind</a:t>
            </a:r>
            <a:r>
              <a:rPr lang="de-DE" dirty="0"/>
              <a:t> an </a:t>
            </a:r>
            <a:r>
              <a:rPr lang="de-DE" dirty="0" err="1"/>
              <a:t>instance</a:t>
            </a:r>
            <a:r>
              <a:rPr lang="de-DE" dirty="0"/>
              <a:t>-level </a:t>
            </a:r>
            <a:r>
              <a:rPr lang="de-DE" dirty="0" err="1"/>
              <a:t>abstraction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global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provider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substituted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Introduce</a:t>
            </a:r>
            <a:r>
              <a:rPr lang="de-DE" dirty="0"/>
              <a:t> a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accessor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wrapper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global </a:t>
            </a:r>
            <a:r>
              <a:rPr lang="de-DE" dirty="0" err="1"/>
              <a:t>reference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allowing</a:t>
            </a:r>
            <a:r>
              <a:rPr lang="de-DE" dirty="0"/>
              <a:t>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replacement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global </a:t>
            </a:r>
            <a:r>
              <a:rPr lang="de-DE" dirty="0" err="1"/>
              <a:t>state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code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static</a:t>
            </a:r>
            <a:r>
              <a:rPr lang="de-DE" dirty="0"/>
              <a:t> APIs, </a:t>
            </a:r>
            <a:r>
              <a:rPr lang="de-DE" dirty="0" err="1"/>
              <a:t>singletons</a:t>
            </a:r>
            <a:r>
              <a:rPr lang="de-DE" dirty="0"/>
              <a:t>,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properties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variables. Global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order-</a:t>
            </a:r>
            <a:r>
              <a:rPr lang="de-DE" dirty="0" err="1"/>
              <a:t>dependent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global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isolated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irrelevant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Adds</a:t>
            </a:r>
            <a:r>
              <a:rPr lang="de-DE" dirty="0"/>
              <a:t> an </a:t>
            </a:r>
            <a:r>
              <a:rPr lang="de-DE" dirty="0" err="1"/>
              <a:t>indirection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;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remove</a:t>
            </a:r>
            <a:r>
              <a:rPr lang="de-DE" dirty="0"/>
              <a:t> global </a:t>
            </a:r>
            <a:r>
              <a:rPr lang="de-DE" dirty="0" err="1"/>
              <a:t>state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impact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177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1304A-43B5-ED62-EE69-DDC3B81C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Expose</a:t>
            </a:r>
            <a:r>
              <a:rPr lang="de-DE" dirty="0"/>
              <a:t> Static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FBBD26-77D7-A117-0F0F-B870AA0D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Exposing</a:t>
            </a:r>
            <a:r>
              <a:rPr lang="de-DE" dirty="0"/>
              <a:t> 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centralize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global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Move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behind</a:t>
            </a:r>
            <a:r>
              <a:rPr lang="de-DE" dirty="0"/>
              <a:t> a </a:t>
            </a:r>
            <a:r>
              <a:rPr lang="de-DE" dirty="0" err="1"/>
              <a:t>named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inline </a:t>
            </a:r>
            <a:r>
              <a:rPr lang="de-DE" dirty="0" err="1"/>
              <a:t>usage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wrapper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readability</a:t>
            </a:r>
            <a:r>
              <a:rPr lang="de-DE" dirty="0"/>
              <a:t> and </a:t>
            </a:r>
            <a:r>
              <a:rPr lang="de-DE" dirty="0" err="1"/>
              <a:t>provides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dealing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legacy</a:t>
            </a:r>
            <a:r>
              <a:rPr lang="de-DE" dirty="0"/>
              <a:t> code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heavily</a:t>
            </a:r>
            <a:r>
              <a:rPr lang="de-DE" dirty="0"/>
              <a:t> </a:t>
            </a:r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static</a:t>
            </a:r>
            <a:r>
              <a:rPr lang="de-DE" dirty="0"/>
              <a:t> APIs.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standardize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document</a:t>
            </a:r>
            <a:r>
              <a:rPr lang="de-DE" dirty="0"/>
              <a:t> global </a:t>
            </a:r>
            <a:r>
              <a:rPr lang="de-DE" dirty="0" err="1"/>
              <a:t>behavior</a:t>
            </a:r>
            <a:r>
              <a:rPr lang="de-DE" dirty="0"/>
              <a:t> in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place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replaced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mocked</a:t>
            </a:r>
            <a:r>
              <a:rPr lang="de-DE" dirty="0"/>
              <a:t> in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Keeps</a:t>
            </a:r>
            <a:r>
              <a:rPr lang="de-DE" dirty="0"/>
              <a:t> global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intact</a:t>
            </a:r>
            <a:r>
              <a:rPr lang="de-DE" dirty="0"/>
              <a:t>; </a:t>
            </a: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limited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refactoring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177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4645A6-9775-FAD5-9284-C6B82330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Call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E91E86-5922-FEBD-0DED-3B44C2749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a </a:t>
            </a:r>
            <a:r>
              <a:rPr lang="de-DE" dirty="0" err="1"/>
              <a:t>hard-coded</a:t>
            </a:r>
            <a:r>
              <a:rPr lang="de-DE" dirty="0"/>
              <a:t>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 in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Move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problematic</a:t>
            </a:r>
            <a:r>
              <a:rPr lang="de-DE" dirty="0"/>
              <a:t>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separate </a:t>
            </a:r>
            <a:r>
              <a:rPr lang="de-DE" dirty="0" err="1"/>
              <a:t>method</a:t>
            </a:r>
            <a:r>
              <a:rPr lang="de-DE" dirty="0"/>
              <a:t> and </a:t>
            </a:r>
            <a:r>
              <a:rPr lang="de-DE" dirty="0" err="1"/>
              <a:t>delegate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original </a:t>
            </a:r>
            <a:r>
              <a:rPr lang="de-DE" dirty="0" err="1"/>
              <a:t>logic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Inline </a:t>
            </a:r>
            <a:r>
              <a:rPr lang="de-DE" dirty="0" err="1"/>
              <a:t>call</a:t>
            </a:r>
            <a:r>
              <a:rPr lang="de-DE" dirty="0"/>
              <a:t> → </a:t>
            </a:r>
            <a:r>
              <a:rPr lang="de-DE" dirty="0" err="1"/>
              <a:t>extracted</a:t>
            </a:r>
            <a:r>
              <a:rPr lang="de-DE" dirty="0"/>
              <a:t>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APIs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dealing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legacy</a:t>
            </a:r>
            <a:r>
              <a:rPr lang="de-DE" dirty="0"/>
              <a:t> code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external </a:t>
            </a:r>
            <a:r>
              <a:rPr lang="de-DE" dirty="0" err="1"/>
              <a:t>services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frameworks</a:t>
            </a:r>
            <a:r>
              <a:rPr lang="de-DE" dirty="0"/>
              <a:t>.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adaptation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feasible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code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proper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easily</a:t>
            </a:r>
            <a:r>
              <a:rPr lang="de-DE" dirty="0"/>
              <a:t> possible.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inheritance</a:t>
            </a:r>
            <a:r>
              <a:rPr lang="de-DE" dirty="0"/>
              <a:t> and </a:t>
            </a:r>
            <a:r>
              <a:rPr lang="de-DE" dirty="0" err="1"/>
              <a:t>overrides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blur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responsibilities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overused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2464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4A492-8080-A781-09D3-6298970C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Factory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025BF8-61A8-1115-848C-A50F197CB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factory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instantiation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factory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Inline </a:t>
            </a:r>
            <a:r>
              <a:rPr lang="de-DE" dirty="0" err="1"/>
              <a:t>new</a:t>
            </a:r>
            <a:r>
              <a:rPr lang="de-DE" dirty="0"/>
              <a:t> →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factory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 </a:t>
            </a:r>
            <a:r>
              <a:rPr lang="de-DE" dirty="0" err="1"/>
              <a:t>creation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substituting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in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APIs.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constructors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hard-coded</a:t>
            </a:r>
            <a:r>
              <a:rPr lang="de-DE" dirty="0"/>
              <a:t> and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feasible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Working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legacy</a:t>
            </a:r>
            <a:r>
              <a:rPr lang="de-DE" dirty="0"/>
              <a:t> code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framework-controlled</a:t>
            </a:r>
            <a:r>
              <a:rPr lang="de-DE" dirty="0"/>
              <a:t> </a:t>
            </a:r>
            <a:r>
              <a:rPr lang="de-DE" dirty="0" err="1"/>
              <a:t>lifecycles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code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easy and </a:t>
            </a:r>
            <a:r>
              <a:rPr lang="de-DE" dirty="0" err="1"/>
              <a:t>clearer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inheritance</a:t>
            </a:r>
            <a:r>
              <a:rPr lang="de-DE" dirty="0"/>
              <a:t> and </a:t>
            </a:r>
            <a:r>
              <a:rPr lang="de-DE" dirty="0" err="1"/>
              <a:t>overrides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obscure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lifecycle</a:t>
            </a:r>
            <a:r>
              <a:rPr lang="de-DE" dirty="0"/>
              <a:t> and </a:t>
            </a:r>
            <a:r>
              <a:rPr lang="de-DE" dirty="0" err="1"/>
              <a:t>intent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487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2CE95-51FE-6FFF-6D5F-0F2A2CCF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Extract and </a:t>
            </a:r>
            <a:r>
              <a:rPr lang="de-DE" dirty="0" err="1"/>
              <a:t>Override</a:t>
            </a:r>
            <a:r>
              <a:rPr lang="de-DE" dirty="0"/>
              <a:t> Getter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B21512-CB61-460C-9991-F2E5D9A8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getter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getter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Inline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→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getter</a:t>
            </a:r>
            <a:r>
              <a:rPr lang="de-DE" dirty="0"/>
              <a:t> →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hard-wired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in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fields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initialized</a:t>
            </a:r>
            <a:r>
              <a:rPr lang="de-DE" dirty="0"/>
              <a:t> </a:t>
            </a:r>
            <a:r>
              <a:rPr lang="de-DE" dirty="0" err="1"/>
              <a:t>internally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globally</a:t>
            </a:r>
            <a:r>
              <a:rPr lang="de-DE" dirty="0"/>
              <a:t>. The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represents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r>
              <a:rPr lang="de-DE" dirty="0"/>
              <a:t>, time, </a:t>
            </a:r>
            <a:r>
              <a:rPr lang="de-DE" dirty="0" err="1"/>
              <a:t>environment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external </a:t>
            </a:r>
            <a:r>
              <a:rPr lang="de-DE" dirty="0" err="1"/>
              <a:t>state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passing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feasible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Adds</a:t>
            </a:r>
            <a:r>
              <a:rPr lang="de-DE" dirty="0"/>
              <a:t> </a:t>
            </a:r>
            <a:r>
              <a:rPr lang="de-DE" dirty="0" err="1"/>
              <a:t>indirection</a:t>
            </a:r>
            <a:r>
              <a:rPr lang="de-DE" dirty="0"/>
              <a:t> and </a:t>
            </a:r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inheritance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hide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365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1CCA5C-6286-1828-C0BD-91AADB8B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Extract </a:t>
            </a:r>
            <a:r>
              <a:rPr lang="de-DE" dirty="0" err="1"/>
              <a:t>Implementer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7F202B-FBA2-7D92-00C3-2EF2424C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a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behind</a:t>
            </a:r>
            <a:r>
              <a:rPr lang="de-DE" dirty="0"/>
              <a:t> an interface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Introduce</a:t>
            </a:r>
            <a:r>
              <a:rPr lang="de-DE" dirty="0"/>
              <a:t> an </a:t>
            </a:r>
            <a:r>
              <a:rPr lang="de-DE" dirty="0" err="1"/>
              <a:t>abstraction</a:t>
            </a:r>
            <a:r>
              <a:rPr lang="de-DE" dirty="0"/>
              <a:t> and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implementer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Inline </a:t>
            </a:r>
            <a:r>
              <a:rPr lang="de-DE" dirty="0" err="1"/>
              <a:t>implementation</a:t>
            </a:r>
            <a:r>
              <a:rPr lang="de-DE" dirty="0"/>
              <a:t> → interface + </a:t>
            </a:r>
            <a:r>
              <a:rPr lang="de-DE" dirty="0" err="1"/>
              <a:t>default</a:t>
            </a:r>
            <a:r>
              <a:rPr lang="de-DE" dirty="0"/>
              <a:t> </a:t>
            </a:r>
            <a:r>
              <a:rPr lang="de-DE" dirty="0" err="1"/>
              <a:t>implementer</a:t>
            </a:r>
            <a:r>
              <a:rPr lang="de-DE" dirty="0"/>
              <a:t> → </a:t>
            </a:r>
            <a:r>
              <a:rPr lang="de-DE" dirty="0" err="1"/>
              <a:t>client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abstraction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Decouples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clients</a:t>
            </a:r>
            <a:r>
              <a:rPr lang="de-DE" dirty="0"/>
              <a:t> and </a:t>
            </a:r>
            <a:r>
              <a:rPr lang="de-DE" dirty="0" err="1"/>
              <a:t>enables</a:t>
            </a:r>
            <a:r>
              <a:rPr lang="de-DE" dirty="0"/>
              <a:t> easy </a:t>
            </a:r>
            <a:r>
              <a:rPr lang="de-DE" dirty="0" err="1"/>
              <a:t>substitution</a:t>
            </a:r>
            <a:r>
              <a:rPr lang="de-DE" dirty="0"/>
              <a:t> in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embedded</a:t>
            </a:r>
            <a:r>
              <a:rPr lang="de-DE" dirty="0"/>
              <a:t> in a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and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mocked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replaced</a:t>
            </a:r>
            <a:r>
              <a:rPr lang="de-DE" dirty="0"/>
              <a:t>.</a:t>
            </a:r>
          </a:p>
          <a:p>
            <a:r>
              <a:rPr lang="de-DE" b="1" dirty="0"/>
              <a:t>Also </a:t>
            </a:r>
            <a:r>
              <a:rPr lang="de-DE" b="1" dirty="0" err="1"/>
              <a:t>useful</a:t>
            </a:r>
            <a:r>
              <a:rPr lang="de-DE" b="1" dirty="0"/>
              <a:t> </a:t>
            </a:r>
            <a:r>
              <a:rPr lang="de-DE" b="1" dirty="0" err="1"/>
              <a:t>when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Preparing</a:t>
            </a:r>
            <a:r>
              <a:rPr lang="de-DE" dirty="0"/>
              <a:t> code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Hexagonal Architecture.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stable</a:t>
            </a:r>
            <a:r>
              <a:rPr lang="de-DE" dirty="0"/>
              <a:t> </a:t>
            </a:r>
            <a:r>
              <a:rPr lang="de-DE" dirty="0" err="1"/>
              <a:t>implementations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abstraction</a:t>
            </a:r>
            <a:r>
              <a:rPr lang="de-DE" dirty="0"/>
              <a:t> </a:t>
            </a:r>
            <a:r>
              <a:rPr lang="de-DE" dirty="0" err="1"/>
              <a:t>adds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Adds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 and </a:t>
            </a:r>
            <a:r>
              <a:rPr lang="de-DE" dirty="0" err="1"/>
              <a:t>indirection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increase</a:t>
            </a:r>
            <a:r>
              <a:rPr lang="de-DE" dirty="0"/>
              <a:t> design </a:t>
            </a:r>
            <a:r>
              <a:rPr lang="de-DE" dirty="0" err="1"/>
              <a:t>complexity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overused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8660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6B266-D8DF-32A0-4CEB-A2FD6186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Extract Interface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6745DF-9363-D27A-951A-FC916EF2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Extracting</a:t>
            </a:r>
            <a:r>
              <a:rPr lang="de-DE" dirty="0"/>
              <a:t> an interface </a:t>
            </a:r>
            <a:r>
              <a:rPr lang="de-DE" dirty="0" err="1"/>
              <a:t>from</a:t>
            </a:r>
            <a:r>
              <a:rPr lang="de-DE" dirty="0"/>
              <a:t> an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and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interface.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→ </a:t>
            </a:r>
            <a:r>
              <a:rPr lang="de-DE" dirty="0" err="1"/>
              <a:t>extracted</a:t>
            </a:r>
            <a:r>
              <a:rPr lang="de-DE" dirty="0"/>
              <a:t> interface → </a:t>
            </a:r>
            <a:r>
              <a:rPr lang="de-DE" dirty="0" err="1"/>
              <a:t>clients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interface.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r>
              <a:rPr lang="de-DE" dirty="0"/>
              <a:t>, </a:t>
            </a:r>
            <a:r>
              <a:rPr lang="de-DE" dirty="0" err="1"/>
              <a:t>mocking</a:t>
            </a:r>
            <a:r>
              <a:rPr lang="de-DE" dirty="0"/>
              <a:t>, and </a:t>
            </a:r>
            <a:r>
              <a:rPr lang="de-DE" dirty="0" err="1"/>
              <a:t>polymorphism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clients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a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but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 </a:t>
            </a:r>
            <a:r>
              <a:rPr lang="de-DE" dirty="0" err="1"/>
              <a:t>Preparing</a:t>
            </a:r>
            <a:r>
              <a:rPr lang="de-DE" dirty="0"/>
              <a:t> code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alternative </a:t>
            </a:r>
            <a:r>
              <a:rPr lang="de-DE" dirty="0" err="1"/>
              <a:t>implementations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unlikely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Introduces</a:t>
            </a:r>
            <a:r>
              <a:rPr lang="de-DE" dirty="0"/>
              <a:t> an extra type; </a:t>
            </a:r>
            <a:r>
              <a:rPr lang="de-DE" dirty="0" err="1"/>
              <a:t>poorly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leak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details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1891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5E330-E303-448F-8FE4-0E82F1C8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Introduce</a:t>
            </a:r>
            <a:r>
              <a:rPr lang="de-DE" dirty="0"/>
              <a:t> Instance </a:t>
            </a:r>
            <a:r>
              <a:rPr lang="de-DE" dirty="0" err="1"/>
              <a:t>Delegator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461F9B-A716-8773-9710-B822E58C2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Introducing</a:t>
            </a:r>
            <a:r>
              <a:rPr lang="de-DE" dirty="0"/>
              <a:t> an </a:t>
            </a:r>
            <a:r>
              <a:rPr lang="de-DE" dirty="0" err="1"/>
              <a:t>instance</a:t>
            </a:r>
            <a:r>
              <a:rPr lang="de-DE" dirty="0"/>
              <a:t>-level </a:t>
            </a:r>
            <a:r>
              <a:rPr lang="de-DE" dirty="0" err="1"/>
              <a:t>delegator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forwards</a:t>
            </a:r>
            <a:r>
              <a:rPr lang="de-DE" dirty="0"/>
              <a:t> </a:t>
            </a:r>
            <a:r>
              <a:rPr lang="de-DE" dirty="0" err="1"/>
              <a:t>calls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delegating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Inline </a:t>
            </a:r>
            <a:r>
              <a:rPr lang="de-DE" dirty="0" err="1"/>
              <a:t>call</a:t>
            </a:r>
            <a:r>
              <a:rPr lang="de-DE" dirty="0"/>
              <a:t> → </a:t>
            </a:r>
            <a:r>
              <a:rPr lang="de-DE" dirty="0" err="1"/>
              <a:t>delegator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/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behind</a:t>
            </a:r>
            <a:r>
              <a:rPr lang="de-DE" dirty="0"/>
              <a:t> it.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replaceable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API.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code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implementations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/global </a:t>
            </a:r>
            <a:r>
              <a:rPr lang="de-DE" dirty="0" err="1"/>
              <a:t>services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a gradual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toward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Adds</a:t>
            </a:r>
            <a:r>
              <a:rPr lang="de-DE" dirty="0"/>
              <a:t> an </a:t>
            </a:r>
            <a:r>
              <a:rPr lang="de-DE" dirty="0" err="1"/>
              <a:t>indirection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;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obscure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executed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3051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3A338E-E239-3939-F6E2-AF345B7D9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setter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B8FC06-FE9F-8888-BF90-3BAF6233D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Introducing</a:t>
            </a:r>
            <a:r>
              <a:rPr lang="de-DE" dirty="0"/>
              <a:t> 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setter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at </a:t>
            </a:r>
            <a:r>
              <a:rPr lang="de-DE" dirty="0" err="1"/>
              <a:t>runtime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accessed</a:t>
            </a:r>
            <a:r>
              <a:rPr lang="de-DE" dirty="0"/>
              <a:t> via a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setter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hard-wired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→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→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setter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relies</a:t>
            </a:r>
            <a:r>
              <a:rPr lang="de-DE" dirty="0"/>
              <a:t> on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code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utilities </a:t>
            </a:r>
            <a:r>
              <a:rPr lang="de-DE" dirty="0" err="1"/>
              <a:t>or</a:t>
            </a:r>
            <a:r>
              <a:rPr lang="de-DE" dirty="0"/>
              <a:t> global </a:t>
            </a:r>
            <a:r>
              <a:rPr lang="de-DE" dirty="0" err="1"/>
              <a:t>services</a:t>
            </a:r>
            <a:r>
              <a:rPr lang="de-DE" dirty="0"/>
              <a:t>. </a:t>
            </a:r>
            <a:r>
              <a:rPr lang="de-DE" dirty="0" err="1"/>
              <a:t>Refactoring</a:t>
            </a:r>
            <a:r>
              <a:rPr lang="de-DE" dirty="0"/>
              <a:t> </a:t>
            </a:r>
            <a:r>
              <a:rPr lang="de-DE" dirty="0" err="1"/>
              <a:t>towards</a:t>
            </a:r>
            <a:r>
              <a:rPr lang="de-DE" dirty="0"/>
              <a:t> </a:t>
            </a: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APIs.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New code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possible.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/>
              <a:t>Global mutable </a:t>
            </a:r>
            <a:r>
              <a:rPr lang="de-DE" dirty="0" err="1"/>
              <a:t>state</a:t>
            </a:r>
            <a:r>
              <a:rPr lang="de-DE" dirty="0"/>
              <a:t>;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clean </a:t>
            </a:r>
            <a:r>
              <a:rPr lang="de-DE" dirty="0" err="1"/>
              <a:t>up</a:t>
            </a:r>
            <a:r>
              <a:rPr lang="de-DE" dirty="0"/>
              <a:t> after </a:t>
            </a:r>
            <a:r>
              <a:rPr lang="de-DE" dirty="0" err="1"/>
              <a:t>themselves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1359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CDB67-DC86-40B8-1964-44C026FB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 </a:t>
            </a:r>
            <a:r>
              <a:rPr lang="de-DE" dirty="0" err="1"/>
              <a:t>substitution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AD511A-3C24-9ED6-5D0D-2828F7F2D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link (</a:t>
            </a:r>
            <a:r>
              <a:rPr lang="de-DE" dirty="0" err="1"/>
              <a:t>reference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different </a:t>
            </a:r>
            <a:r>
              <a:rPr lang="de-DE" dirty="0" err="1"/>
              <a:t>object</a:t>
            </a:r>
            <a:r>
              <a:rPr lang="de-DE" dirty="0"/>
              <a:t> at </a:t>
            </a:r>
            <a:r>
              <a:rPr lang="de-DE" dirty="0" err="1"/>
              <a:t>runtime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→ </a:t>
            </a:r>
            <a:r>
              <a:rPr lang="de-DE" dirty="0" err="1"/>
              <a:t>re-linked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→ alternative </a:t>
            </a:r>
            <a:r>
              <a:rPr lang="de-DE" dirty="0" err="1"/>
              <a:t>implementation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swapping</a:t>
            </a:r>
            <a:r>
              <a:rPr lang="de-DE" dirty="0"/>
              <a:t> </a:t>
            </a:r>
            <a:r>
              <a:rPr lang="de-DE" dirty="0" err="1"/>
              <a:t>collaborators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signatures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code </a:t>
            </a:r>
            <a:r>
              <a:rPr lang="de-DE" dirty="0" err="1"/>
              <a:t>with</a:t>
            </a:r>
            <a:r>
              <a:rPr lang="de-DE" dirty="0"/>
              <a:t> mutable </a:t>
            </a:r>
            <a:r>
              <a:rPr lang="de-DE" dirty="0" err="1"/>
              <a:t>fields</a:t>
            </a:r>
            <a:r>
              <a:rPr lang="de-DE" dirty="0"/>
              <a:t> and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constructors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. </a:t>
            </a:r>
            <a:r>
              <a:rPr lang="de-DE" dirty="0" err="1"/>
              <a:t>Subclassing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setters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undesirable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impossible.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final, </a:t>
            </a:r>
            <a:r>
              <a:rPr lang="de-DE" dirty="0" err="1"/>
              <a:t>static</a:t>
            </a:r>
            <a:r>
              <a:rPr lang="de-DE" dirty="0"/>
              <a:t> final,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deeply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Requires</a:t>
            </a:r>
            <a:r>
              <a:rPr lang="de-DE" dirty="0"/>
              <a:t> mutable </a:t>
            </a:r>
            <a:r>
              <a:rPr lang="de-DE" dirty="0" err="1"/>
              <a:t>state</a:t>
            </a:r>
            <a:r>
              <a:rPr lang="de-DE" dirty="0"/>
              <a:t>; </a:t>
            </a:r>
            <a:r>
              <a:rPr lang="de-DE" dirty="0" err="1"/>
              <a:t>refactoring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expose</a:t>
            </a:r>
            <a:r>
              <a:rPr lang="de-DE" dirty="0"/>
              <a:t> </a:t>
            </a:r>
            <a:r>
              <a:rPr lang="de-DE" dirty="0" err="1"/>
              <a:t>fields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setters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0400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4B8B2C-697A-356A-9078-82B9DC72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Parameterize</a:t>
            </a:r>
            <a:r>
              <a:rPr lang="de-DE" dirty="0"/>
              <a:t> </a:t>
            </a:r>
            <a:r>
              <a:rPr lang="de-DE" dirty="0" err="1"/>
              <a:t>Constructor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A4DDF1-EF68-9562-9B6C-1488FC6D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constructor</a:t>
            </a:r>
            <a:r>
              <a:rPr lang="de-DE" dirty="0"/>
              <a:t> so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outside.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internal </a:t>
            </a:r>
            <a:r>
              <a:rPr lang="de-DE" dirty="0" err="1"/>
              <a:t>creation</a:t>
            </a:r>
            <a:r>
              <a:rPr lang="de-DE" dirty="0"/>
              <a:t> (</a:t>
            </a:r>
            <a:r>
              <a:rPr lang="de-DE" dirty="0" err="1"/>
              <a:t>new</a:t>
            </a:r>
            <a:r>
              <a:rPr lang="de-DE" dirty="0"/>
              <a:t>)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Hard-</a:t>
            </a:r>
            <a:r>
              <a:rPr lang="de-DE" dirty="0" err="1"/>
              <a:t>coded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→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→ </a:t>
            </a:r>
            <a:r>
              <a:rPr lang="de-DE" dirty="0" err="1"/>
              <a:t>assigned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explicit and </a:t>
            </a:r>
            <a:r>
              <a:rPr lang="de-DE" dirty="0" err="1"/>
              <a:t>mandatory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New code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refactoring</a:t>
            </a:r>
            <a:r>
              <a:rPr lang="de-DE" dirty="0"/>
              <a:t> </a:t>
            </a:r>
            <a:r>
              <a:rPr lang="de-DE" dirty="0" err="1"/>
              <a:t>legacy</a:t>
            </a:r>
            <a:r>
              <a:rPr lang="de-DE" dirty="0"/>
              <a:t> code </a:t>
            </a:r>
            <a:r>
              <a:rPr lang="de-DE" dirty="0" err="1"/>
              <a:t>toward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immutability</a:t>
            </a:r>
            <a:r>
              <a:rPr lang="de-DE" dirty="0"/>
              <a:t> (final </a:t>
            </a:r>
            <a:r>
              <a:rPr lang="de-DE" dirty="0" err="1"/>
              <a:t>fields</a:t>
            </a:r>
            <a:r>
              <a:rPr lang="de-DE" dirty="0"/>
              <a:t>).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creation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frameworks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constructors</a:t>
            </a:r>
            <a:r>
              <a:rPr lang="de-DE" dirty="0"/>
              <a:t> and all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sites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7904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E26BA-DBD6-48B9-C25E-89010E695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Parameterize</a:t>
            </a:r>
            <a:r>
              <a:rPr lang="de-DE" dirty="0"/>
              <a:t>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28C51-D2D0-76E0-76E2-007BFEB6C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method</a:t>
            </a:r>
            <a:r>
              <a:rPr lang="de-DE" dirty="0"/>
              <a:t> so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passed</a:t>
            </a:r>
            <a:r>
              <a:rPr lang="de-DE" dirty="0"/>
              <a:t> per </a:t>
            </a:r>
            <a:r>
              <a:rPr lang="de-DE" dirty="0" err="1"/>
              <a:t>call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internally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parameters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→ </a:t>
            </a:r>
            <a:r>
              <a:rPr lang="de-DE" dirty="0" err="1"/>
              <a:t>used</a:t>
            </a:r>
            <a:r>
              <a:rPr lang="de-DE" dirty="0"/>
              <a:t> in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body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explicit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operation</a:t>
            </a:r>
            <a:r>
              <a:rPr lang="de-DE" dirty="0"/>
              <a:t>.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not possible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undesirable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dependency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Clutters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signatures</a:t>
            </a:r>
            <a:r>
              <a:rPr lang="de-DE" dirty="0"/>
              <a:t> and </a:t>
            </a:r>
            <a:r>
              <a:rPr lang="de-DE" dirty="0" err="1"/>
              <a:t>pushes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callers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4507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DEECB-9D4C-4389-603C-0200D1478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Primitivize</a:t>
            </a:r>
            <a:r>
              <a:rPr lang="de-DE" dirty="0"/>
              <a:t> 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C2DC8-A29F-5F19-0A1E-C438CF991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a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primitive </a:t>
            </a:r>
            <a:r>
              <a:rPr lang="de-DE" dirty="0" err="1"/>
              <a:t>or</a:t>
            </a:r>
            <a:r>
              <a:rPr lang="de-DE" dirty="0"/>
              <a:t> simple </a:t>
            </a:r>
            <a:r>
              <a:rPr lang="de-DE" dirty="0" err="1"/>
              <a:t>values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Extract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an </a:t>
            </a:r>
            <a:r>
              <a:rPr lang="de-DE" dirty="0" err="1"/>
              <a:t>object</a:t>
            </a:r>
            <a:r>
              <a:rPr lang="de-DE" dirty="0"/>
              <a:t> and pass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individual </a:t>
            </a:r>
            <a:r>
              <a:rPr lang="de-DE" dirty="0" err="1"/>
              <a:t>parameters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Parameter </a:t>
            </a:r>
            <a:r>
              <a:rPr lang="de-DE" dirty="0" err="1"/>
              <a:t>Object</a:t>
            </a:r>
            <a:r>
              <a:rPr lang="de-DE" dirty="0"/>
              <a:t> → primitive </a:t>
            </a:r>
            <a:r>
              <a:rPr lang="de-DE" dirty="0" err="1"/>
              <a:t>parameters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caller</a:t>
            </a:r>
            <a:r>
              <a:rPr lang="de-DE" dirty="0"/>
              <a:t> and </a:t>
            </a:r>
            <a:r>
              <a:rPr lang="de-DE" dirty="0" err="1"/>
              <a:t>callee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a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. Writing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objects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represents</a:t>
            </a:r>
            <a:r>
              <a:rPr lang="de-DE" dirty="0"/>
              <a:t> a </a:t>
            </a:r>
            <a:r>
              <a:rPr lang="de-DE" dirty="0" err="1"/>
              <a:t>meaningful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Longer</a:t>
            </a:r>
            <a:r>
              <a:rPr lang="de-DE" dirty="0"/>
              <a:t> </a:t>
            </a:r>
            <a:r>
              <a:rPr lang="de-DE" dirty="0" err="1"/>
              <a:t>parameter</a:t>
            </a:r>
            <a:r>
              <a:rPr lang="de-DE" dirty="0"/>
              <a:t> </a:t>
            </a:r>
            <a:r>
              <a:rPr lang="de-DE" dirty="0" err="1"/>
              <a:t>lists</a:t>
            </a:r>
            <a:r>
              <a:rPr lang="de-DE" dirty="0"/>
              <a:t> and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grouping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30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D64C0-0E05-53B0-566F-59FAACDC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Pull </a:t>
            </a:r>
            <a:r>
              <a:rPr lang="de-DE" dirty="0" err="1"/>
              <a:t>up</a:t>
            </a:r>
            <a:r>
              <a:rPr lang="de-DE" dirty="0"/>
              <a:t> feature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B86C51-5426-DDA9-F0D9-FADE01FB5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Moving a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superclass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duplicated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and </a:t>
            </a:r>
            <a:r>
              <a:rPr lang="de-DE" dirty="0" err="1"/>
              <a:t>relocate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parent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Duplicate</a:t>
            </a:r>
            <a:r>
              <a:rPr lang="de-DE" dirty="0"/>
              <a:t> code in </a:t>
            </a:r>
            <a:r>
              <a:rPr lang="de-DE" dirty="0" err="1"/>
              <a:t>subclasses</a:t>
            </a:r>
            <a:r>
              <a:rPr lang="de-DE" dirty="0"/>
              <a:t> → </a:t>
            </a:r>
            <a:r>
              <a:rPr lang="de-DE" dirty="0" err="1"/>
              <a:t>extract</a:t>
            </a:r>
            <a:r>
              <a:rPr lang="de-DE" dirty="0"/>
              <a:t> →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superclass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Eliminates</a:t>
            </a:r>
            <a:r>
              <a:rPr lang="de-DE" dirty="0"/>
              <a:t> </a:t>
            </a:r>
            <a:r>
              <a:rPr lang="de-DE" dirty="0" err="1"/>
              <a:t>duplication</a:t>
            </a:r>
            <a:r>
              <a:rPr lang="de-DE" dirty="0"/>
              <a:t> and </a:t>
            </a:r>
            <a:r>
              <a:rPr lang="de-DE" dirty="0" err="1"/>
              <a:t>centralizes</a:t>
            </a:r>
            <a:r>
              <a:rPr lang="de-DE" dirty="0"/>
              <a:t>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multiple </a:t>
            </a:r>
            <a:r>
              <a:rPr lang="de-DE" dirty="0" err="1"/>
              <a:t>subclasses</a:t>
            </a:r>
            <a:r>
              <a:rPr lang="de-DE" dirty="0"/>
              <a:t> </a:t>
            </a:r>
            <a:r>
              <a:rPr lang="de-DE" dirty="0" err="1"/>
              <a:t>implement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logic</a:t>
            </a:r>
            <a:r>
              <a:rPr lang="de-DE" dirty="0"/>
              <a:t>. </a:t>
            </a:r>
            <a:r>
              <a:rPr lang="de-DE" dirty="0" err="1"/>
              <a:t>Preparing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hierarchy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refactorings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coincidentally</a:t>
            </a:r>
            <a:r>
              <a:rPr lang="de-DE" dirty="0"/>
              <a:t> </a:t>
            </a:r>
            <a:r>
              <a:rPr lang="de-DE" dirty="0" err="1"/>
              <a:t>share</a:t>
            </a:r>
            <a:r>
              <a:rPr lang="de-DE" dirty="0"/>
              <a:t> code.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/>
              <a:t>Risk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over-generalizing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35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D38ECE-2723-85AE-72AD-CE4774FA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0F0BA9-E715-689B-E798-80C9CDE27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Moving 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superclass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it.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unused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and </a:t>
            </a:r>
            <a:r>
              <a:rPr lang="de-DE" dirty="0" err="1"/>
              <a:t>relocate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downward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Dependency</a:t>
            </a:r>
            <a:r>
              <a:rPr lang="de-DE" dirty="0"/>
              <a:t> in </a:t>
            </a:r>
            <a:r>
              <a:rPr lang="de-DE" dirty="0" err="1"/>
              <a:t>superclass</a:t>
            </a:r>
            <a:r>
              <a:rPr lang="de-DE" dirty="0"/>
              <a:t> → </a:t>
            </a:r>
            <a:r>
              <a:rPr lang="de-DE" dirty="0" err="1"/>
              <a:t>remove</a:t>
            </a:r>
            <a:r>
              <a:rPr lang="de-DE" dirty="0"/>
              <a:t> →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unnecessary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dependency</a:t>
            </a:r>
            <a:r>
              <a:rPr lang="de-DE" dirty="0"/>
              <a:t>. </a:t>
            </a:r>
            <a:r>
              <a:rPr lang="de-DE" dirty="0" err="1"/>
              <a:t>Improving</a:t>
            </a:r>
            <a:r>
              <a:rPr lang="de-DE" dirty="0"/>
              <a:t> </a:t>
            </a:r>
            <a:r>
              <a:rPr lang="de-DE" dirty="0" err="1"/>
              <a:t>testability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unrelated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superclass’s</a:t>
            </a:r>
            <a:r>
              <a:rPr lang="de-DE" dirty="0"/>
              <a:t> </a:t>
            </a:r>
            <a:r>
              <a:rPr lang="de-DE" dirty="0" err="1"/>
              <a:t>core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duplication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 in </a:t>
            </a:r>
            <a:r>
              <a:rPr lang="de-DE" dirty="0" err="1"/>
              <a:t>subclasses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8957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B95E9-118B-5015-478E-B96171A0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Pointer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6AA593-1487-BA93-2651-C2FA95508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a </a:t>
            </a:r>
            <a:r>
              <a:rPr lang="de-DE" dirty="0" err="1"/>
              <a:t>hard-coded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call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callable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Store </a:t>
            </a:r>
            <a:r>
              <a:rPr lang="de-DE" dirty="0" err="1"/>
              <a:t>behavior</a:t>
            </a:r>
            <a:r>
              <a:rPr lang="de-DE" dirty="0"/>
              <a:t> in a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pointer</a:t>
            </a:r>
            <a:r>
              <a:rPr lang="de-DE" dirty="0"/>
              <a:t> and </a:t>
            </a:r>
            <a:r>
              <a:rPr lang="de-DE" dirty="0" err="1"/>
              <a:t>invoke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indirectly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call</a:t>
            </a:r>
            <a:r>
              <a:rPr lang="de-DE" dirty="0"/>
              <a:t> →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→ </a:t>
            </a:r>
            <a:r>
              <a:rPr lang="de-DE" dirty="0" err="1"/>
              <a:t>invoked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subclassing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operation</a:t>
            </a:r>
            <a:r>
              <a:rPr lang="de-DE" dirty="0"/>
              <a:t> </a:t>
            </a:r>
            <a:r>
              <a:rPr lang="de-DE" dirty="0" err="1"/>
              <a:t>varies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lightweight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doubles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multiple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Less</a:t>
            </a:r>
            <a:r>
              <a:rPr lang="de-DE" dirty="0"/>
              <a:t> explicit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interfaces</a:t>
            </a:r>
            <a:r>
              <a:rPr lang="de-DE" dirty="0"/>
              <a:t>; limited </a:t>
            </a:r>
            <a:r>
              <a:rPr lang="de-DE" dirty="0" err="1"/>
              <a:t>expressiveness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30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C2B97-F68A-CFBB-1DB2-53EC99F5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Replace</a:t>
            </a:r>
            <a:r>
              <a:rPr lang="de-DE" dirty="0"/>
              <a:t> Global Reference </a:t>
            </a:r>
            <a:r>
              <a:rPr lang="de-DE" dirty="0" err="1"/>
              <a:t>with</a:t>
            </a:r>
            <a:r>
              <a:rPr lang="de-DE" dirty="0"/>
              <a:t> Getter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9B8F0F-D8C5-047E-A460-4A10F3193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</a:t>
            </a: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global variable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getter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Access </a:t>
            </a:r>
            <a:r>
              <a:rPr lang="de-DE" dirty="0" err="1"/>
              <a:t>the</a:t>
            </a:r>
            <a:r>
              <a:rPr lang="de-DE" dirty="0"/>
              <a:t> global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an </a:t>
            </a:r>
            <a:r>
              <a:rPr lang="de-DE" dirty="0" err="1"/>
              <a:t>overridable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Global/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field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→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getter</a:t>
            </a:r>
            <a:r>
              <a:rPr lang="de-DE" dirty="0"/>
              <a:t> →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Enables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global </a:t>
            </a:r>
            <a:r>
              <a:rPr lang="de-DE" dirty="0" err="1"/>
              <a:t>dependencies</a:t>
            </a:r>
            <a:r>
              <a:rPr lang="de-DE" dirty="0"/>
              <a:t> in </a:t>
            </a:r>
            <a:r>
              <a:rPr lang="de-DE" dirty="0" err="1"/>
              <a:t>tests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code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global </a:t>
            </a:r>
            <a:r>
              <a:rPr lang="de-DE" dirty="0" err="1"/>
              <a:t>state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a minimal, non-invasive </a:t>
            </a:r>
            <a:r>
              <a:rPr lang="de-DE" dirty="0" err="1"/>
              <a:t>refactoring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constructor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feasible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/>
              <a:t>Global </a:t>
            </a:r>
            <a:r>
              <a:rPr lang="de-DE" dirty="0" err="1"/>
              <a:t>state</a:t>
            </a:r>
            <a:r>
              <a:rPr lang="de-DE" dirty="0"/>
              <a:t> still </a:t>
            </a:r>
            <a:r>
              <a:rPr lang="de-DE" dirty="0" err="1"/>
              <a:t>exists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abstracted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0379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7229F4-4D88-3E35-F3D9-69D97958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Subclass</a:t>
            </a:r>
            <a:r>
              <a:rPr lang="de-DE" dirty="0"/>
              <a:t> and </a:t>
            </a:r>
            <a:r>
              <a:rPr lang="de-DE" dirty="0" err="1"/>
              <a:t>Override</a:t>
            </a:r>
            <a:r>
              <a:rPr lang="de-DE" dirty="0"/>
              <a:t> Method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B8949F-8F28-D5AB-B4E6-B8FF4C122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Creating</a:t>
            </a:r>
            <a:r>
              <a:rPr lang="de-DE" dirty="0"/>
              <a:t> a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via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overriding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Mark 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and </a:t>
            </a:r>
            <a:r>
              <a:rPr lang="de-DE" dirty="0" err="1"/>
              <a:t>override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in a </a:t>
            </a:r>
            <a:r>
              <a:rPr lang="de-DE" dirty="0" err="1"/>
              <a:t>subclass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overridable</a:t>
            </a:r>
            <a:r>
              <a:rPr lang="de-DE" dirty="0"/>
              <a:t> hook →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override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replacement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code.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code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. </a:t>
            </a:r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Tight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inheritance</a:t>
            </a:r>
            <a:r>
              <a:rPr lang="de-DE" dirty="0"/>
              <a:t> and fragile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risk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6532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546C5-3A6F-AABF-B498-C3CBFFC8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Supersede</a:t>
            </a:r>
            <a:r>
              <a:rPr lang="de-DE" dirty="0"/>
              <a:t> Instance Variable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5E6A5D-C762-5DB1-C144-F2287715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instance</a:t>
            </a:r>
            <a:r>
              <a:rPr lang="de-DE" dirty="0"/>
              <a:t> variable in a </a:t>
            </a:r>
            <a:r>
              <a:rPr lang="de-DE" dirty="0" err="1"/>
              <a:t>subclass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assigns</a:t>
            </a:r>
            <a:r>
              <a:rPr lang="de-DE" dirty="0"/>
              <a:t> a different </a:t>
            </a:r>
            <a:r>
              <a:rPr lang="de-DE" dirty="0" err="1"/>
              <a:t>object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an </a:t>
            </a:r>
            <a:r>
              <a:rPr lang="de-DE" dirty="0" err="1"/>
              <a:t>inherited</a:t>
            </a:r>
            <a:r>
              <a:rPr lang="de-DE" dirty="0"/>
              <a:t> </a:t>
            </a:r>
            <a:r>
              <a:rPr lang="de-DE" dirty="0" err="1"/>
              <a:t>instance</a:t>
            </a:r>
            <a:r>
              <a:rPr lang="de-DE" dirty="0"/>
              <a:t>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Instance </a:t>
            </a:r>
            <a:r>
              <a:rPr lang="de-DE" dirty="0" err="1"/>
              <a:t>field</a:t>
            </a:r>
            <a:r>
              <a:rPr lang="de-DE" dirty="0"/>
              <a:t> in </a:t>
            </a:r>
            <a:r>
              <a:rPr lang="de-DE" dirty="0" err="1"/>
              <a:t>superclass</a:t>
            </a:r>
            <a:r>
              <a:rPr lang="de-DE" dirty="0"/>
              <a:t> → </a:t>
            </a:r>
            <a:r>
              <a:rPr lang="de-DE" dirty="0" err="1"/>
              <a:t>reassigned</a:t>
            </a:r>
            <a:r>
              <a:rPr lang="de-DE" dirty="0"/>
              <a:t> in </a:t>
            </a:r>
            <a:r>
              <a:rPr lang="de-DE" dirty="0" err="1"/>
              <a:t>subclass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substitution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code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overridable</a:t>
            </a:r>
            <a:r>
              <a:rPr lang="de-DE" dirty="0"/>
              <a:t> but non-final </a:t>
            </a:r>
            <a:r>
              <a:rPr lang="de-DE" dirty="0" err="1"/>
              <a:t>fields</a:t>
            </a:r>
            <a:r>
              <a:rPr lang="de-DE" dirty="0"/>
              <a:t>. </a:t>
            </a:r>
            <a:r>
              <a:rPr lang="de-DE" dirty="0" err="1"/>
              <a:t>Creating</a:t>
            </a:r>
            <a:r>
              <a:rPr lang="de-DE" dirty="0"/>
              <a:t> test-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subclasses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fields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private </a:t>
            </a:r>
            <a:r>
              <a:rPr lang="de-DE" dirty="0" err="1"/>
              <a:t>or</a:t>
            </a:r>
            <a:r>
              <a:rPr lang="de-DE" dirty="0"/>
              <a:t> final.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Trade-offs:</a:t>
            </a:r>
            <a:br>
              <a:rPr lang="de-DE" dirty="0"/>
            </a:br>
            <a:r>
              <a:rPr lang="de-DE" dirty="0"/>
              <a:t>Breaks </a:t>
            </a:r>
            <a:r>
              <a:rPr lang="de-DE" dirty="0" err="1"/>
              <a:t>encapsulation</a:t>
            </a:r>
            <a:r>
              <a:rPr lang="de-DE" dirty="0"/>
              <a:t> and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internals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6767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4BBF7-B787-F455-41C6-D571B9B7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Template </a:t>
            </a:r>
            <a:r>
              <a:rPr lang="de-DE" dirty="0" err="1"/>
              <a:t>Redefinition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7E427F-91F5-3DD2-695B-40C84565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Redefining</a:t>
            </a:r>
            <a:r>
              <a:rPr lang="de-DE" dirty="0"/>
              <a:t>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overriding</a:t>
            </a:r>
            <a:r>
              <a:rPr lang="de-DE" dirty="0"/>
              <a:t> </a:t>
            </a:r>
            <a:r>
              <a:rPr lang="de-DE" dirty="0" err="1"/>
              <a:t>template</a:t>
            </a:r>
            <a:r>
              <a:rPr lang="de-DE" dirty="0"/>
              <a:t> hook </a:t>
            </a:r>
            <a:r>
              <a:rPr lang="de-DE" dirty="0" err="1"/>
              <a:t>methods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Keep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, </a:t>
            </a:r>
            <a:r>
              <a:rPr lang="de-DE" dirty="0" err="1"/>
              <a:t>redefine</a:t>
            </a:r>
            <a:r>
              <a:rPr lang="de-DE" dirty="0"/>
              <a:t>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Template </a:t>
            </a:r>
            <a:r>
              <a:rPr lang="de-DE" dirty="0" err="1"/>
              <a:t>method</a:t>
            </a:r>
            <a:r>
              <a:rPr lang="de-DE" dirty="0"/>
              <a:t> → </a:t>
            </a:r>
            <a:r>
              <a:rPr lang="de-DE" dirty="0" err="1"/>
              <a:t>protected</a:t>
            </a:r>
            <a:r>
              <a:rPr lang="de-DE" dirty="0"/>
              <a:t> hook </a:t>
            </a:r>
            <a:r>
              <a:rPr lang="de-DE" dirty="0" err="1"/>
              <a:t>methods</a:t>
            </a:r>
            <a:r>
              <a:rPr lang="de-DE" dirty="0"/>
              <a:t> → </a:t>
            </a:r>
            <a:r>
              <a:rPr lang="de-DE" dirty="0" err="1"/>
              <a:t>subclass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duplicating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overall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must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stable</a:t>
            </a:r>
            <a:r>
              <a:rPr lang="de-DE" dirty="0"/>
              <a:t>. </a:t>
            </a:r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seams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vary</a:t>
            </a:r>
            <a:r>
              <a:rPr lang="de-DE" dirty="0"/>
              <a:t> </a:t>
            </a:r>
            <a:r>
              <a:rPr lang="de-DE" dirty="0" err="1"/>
              <a:t>independently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Tight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inheritance</a:t>
            </a:r>
            <a:r>
              <a:rPr lang="de-DE" dirty="0"/>
              <a:t> and </a:t>
            </a:r>
            <a:r>
              <a:rPr lang="de-DE" dirty="0" err="1"/>
              <a:t>ordering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960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C83B6-EF55-7C9D-F9C4-1A810F9B3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Redefinition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773719-528D-4231-67BD-B78853475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Replacing</a:t>
            </a:r>
            <a:r>
              <a:rPr lang="de-DE" dirty="0"/>
              <a:t> 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redefining</a:t>
            </a:r>
            <a:r>
              <a:rPr lang="de-DE" dirty="0"/>
              <a:t> </a:t>
            </a:r>
            <a:r>
              <a:rPr lang="de-DE" dirty="0" err="1"/>
              <a:t>referenced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.</a:t>
            </a:r>
          </a:p>
          <a:p>
            <a:r>
              <a:rPr lang="de-DE" b="1" dirty="0" err="1"/>
              <a:t>How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works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Change </a:t>
            </a:r>
            <a:r>
              <a:rPr lang="de-DE" dirty="0" err="1"/>
              <a:t>imports</a:t>
            </a:r>
            <a:r>
              <a:rPr lang="de-DE" dirty="0"/>
              <a:t>,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resolution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.</a:t>
            </a:r>
          </a:p>
          <a:p>
            <a:r>
              <a:rPr lang="de-DE" b="1" dirty="0" err="1"/>
              <a:t>Typical</a:t>
            </a:r>
            <a:r>
              <a:rPr lang="de-DE" b="1" dirty="0"/>
              <a:t> </a:t>
            </a:r>
            <a:r>
              <a:rPr lang="de-DE" b="1" dirty="0" err="1"/>
              <a:t>implementation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Classpath</a:t>
            </a:r>
            <a:r>
              <a:rPr lang="de-DE" dirty="0"/>
              <a:t> </a:t>
            </a:r>
            <a:r>
              <a:rPr lang="de-DE" dirty="0" err="1"/>
              <a:t>shadowing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alternative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definitions</a:t>
            </a:r>
            <a:r>
              <a:rPr lang="de-DE" dirty="0"/>
              <a:t>.</a:t>
            </a:r>
          </a:p>
          <a:p>
            <a:r>
              <a:rPr lang="de-DE" b="1" dirty="0"/>
              <a:t>Main </a:t>
            </a:r>
            <a:r>
              <a:rPr lang="de-DE" b="1" dirty="0" err="1"/>
              <a:t>benefit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production</a:t>
            </a:r>
            <a:r>
              <a:rPr lang="de-DE" dirty="0"/>
              <a:t> code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Legacy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seams</a:t>
            </a:r>
            <a:r>
              <a:rPr lang="de-DE" dirty="0"/>
              <a:t>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classpath</a:t>
            </a:r>
            <a:r>
              <a:rPr lang="de-DE" dirty="0"/>
              <a:t>.</a:t>
            </a:r>
          </a:p>
          <a:p>
            <a:r>
              <a:rPr lang="de-DE" b="1" dirty="0" err="1"/>
              <a:t>When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NOT </a:t>
            </a:r>
            <a:r>
              <a:rPr lang="de-DE" b="1" dirty="0" err="1"/>
              <a:t>useful</a:t>
            </a:r>
            <a:r>
              <a:rPr lang="de-DE" b="1" dirty="0"/>
              <a:t>:</a:t>
            </a:r>
            <a:br>
              <a:rPr lang="de-DE" dirty="0"/>
            </a:br>
            <a:r>
              <a:rPr lang="de-DE" dirty="0"/>
              <a:t>Large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unclear</a:t>
            </a:r>
            <a:r>
              <a:rPr lang="de-DE" dirty="0"/>
              <a:t> </a:t>
            </a:r>
            <a:r>
              <a:rPr lang="de-DE" dirty="0" err="1"/>
              <a:t>resolution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.</a:t>
            </a:r>
          </a:p>
          <a:p>
            <a:r>
              <a:rPr lang="de-DE" b="1" dirty="0"/>
              <a:t>Trade-offs:</a:t>
            </a:r>
            <a:br>
              <a:rPr lang="de-DE" dirty="0"/>
            </a:br>
            <a:r>
              <a:rPr lang="de-DE" dirty="0" err="1"/>
              <a:t>Implicit</a:t>
            </a:r>
            <a:r>
              <a:rPr lang="de-DE" dirty="0"/>
              <a:t>, fragile, and </a:t>
            </a:r>
            <a:r>
              <a:rPr lang="de-DE" dirty="0" err="1"/>
              <a:t>hard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3914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3658</Words>
  <Application>Microsoft Macintosh PowerPoint</Application>
  <PresentationFormat>Breitbild</PresentationFormat>
  <Paragraphs>331</Paragraphs>
  <Slides>37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</vt:lpstr>
      <vt:lpstr>Resolve dependency patterns for tests</vt:lpstr>
      <vt:lpstr>1. Parameter-Based Dependency Removal</vt:lpstr>
      <vt:lpstr>2. Override-Based Object Seams</vt:lpstr>
      <vt:lpstr>3. Template &amp; Algorithm Redefinition</vt:lpstr>
      <vt:lpstr>4. Factory &amp; Creation Seams</vt:lpstr>
      <vt:lpstr>5. Field &amp; Reference Replacement Seams</vt:lpstr>
      <vt:lpstr>6. Static &amp; Global Dependency Seams</vt:lpstr>
      <vt:lpstr>7. Structural Extraction Seams</vt:lpstr>
      <vt:lpstr>8. Call &amp; Function Substitution Seams</vt:lpstr>
      <vt:lpstr>9. Textual &amp; Extreme Seams</vt:lpstr>
      <vt:lpstr>Seams That Are Still Highly Relevant Today</vt:lpstr>
      <vt:lpstr>Seams Mostly Obsoleted by Modern Dependency Injection</vt:lpstr>
      <vt:lpstr>How Feathers’ Techniques Relate</vt:lpstr>
      <vt:lpstr>Adapt Parameter</vt:lpstr>
      <vt:lpstr>Break Out Method Object</vt:lpstr>
      <vt:lpstr>Definition completion</vt:lpstr>
      <vt:lpstr>Encapsulate Global References</vt:lpstr>
      <vt:lpstr>Expose Static Method</vt:lpstr>
      <vt:lpstr>Extract and Override Call</vt:lpstr>
      <vt:lpstr>Extract and Override Factory Method</vt:lpstr>
      <vt:lpstr>Extract and Override Getter</vt:lpstr>
      <vt:lpstr>Extract Implementer</vt:lpstr>
      <vt:lpstr>Extract Interface</vt:lpstr>
      <vt:lpstr>Introduce Instance Delegator</vt:lpstr>
      <vt:lpstr>Introduce static setter</vt:lpstr>
      <vt:lpstr>Link substitution</vt:lpstr>
      <vt:lpstr>Parameterize Constructor</vt:lpstr>
      <vt:lpstr>Parameterize Method</vt:lpstr>
      <vt:lpstr>Primitivize Parameter</vt:lpstr>
      <vt:lpstr>Pull up feature</vt:lpstr>
      <vt:lpstr>PowerPoint-Präsentation</vt:lpstr>
      <vt:lpstr>Replace Function with Function Pointer</vt:lpstr>
      <vt:lpstr>Replace Global Reference with Getter</vt:lpstr>
      <vt:lpstr>Subclass and Override Method</vt:lpstr>
      <vt:lpstr>Supersede Instance Variable</vt:lpstr>
      <vt:lpstr>Template Redefinition</vt:lpstr>
      <vt:lpstr>Textual Redefinition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Gernot  Schulmeister</dc:creator>
  <cp:lastModifiedBy>Gernot  Schulmeister</cp:lastModifiedBy>
  <cp:revision>66</cp:revision>
  <dcterms:created xsi:type="dcterms:W3CDTF">2025-12-26T18:16:13Z</dcterms:created>
  <dcterms:modified xsi:type="dcterms:W3CDTF">2026-01-02T10:38:22Z</dcterms:modified>
</cp:coreProperties>
</file>